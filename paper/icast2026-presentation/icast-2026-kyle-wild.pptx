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B3E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7"/>
    <p:restoredTop sz="94660"/>
  </p:normalViewPr>
  <p:slideViewPr>
    <p:cSldViewPr snapToGrid="0">
      <p:cViewPr varScale="1">
        <p:scale>
          <a:sx n="96" d="100"/>
          <a:sy n="96" d="100"/>
        </p:scale>
        <p:origin x="200" y="8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notesMaster" Target="notesMasters/notesMaster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seconds. Opening promise: what if we could preserve the interpretation of a source instead of asking a model to reconstruct it on every read? Start with an actual passage from the experiment. This is the fact-compilation paper, not the companion matrix-maintenance study or the MediaSum ISC-RAG retrieval paper. The main slides total ten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seconds. Ask the audience to read the left excerpt. The question was whether policy was at the neutral rate. “I” is Chair Powell; “it” is his estimate of the neutral rate. The right sentence is an exact stored model output, not a fresh rewrite for this talk. The whole passage produced eight facts; only this one is displayed. Let the audience see the repaired references before naming atomic facts. Source excerpts are contiguous and exact, with the speaker label separated. Preserve personal-estimate language: this is an attributed statement, not a claim that the neutral rate is objectively known.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seconds. Here “fact” names a storage unit: a self-contained claim grounded in a source. It is not a philosophical guarantee of truth. Read the three layers: who said it, what they estimated, and where to check. The source/date shown are attached to the frozen passage-level result, not an invented per-fact provenance schema from S2. Another exact generated fact says that the neutral rate cannot be known with certainty. Say explicitly that compression must preserve qualifications and the difference between reporting a statement and asserting the world is that way.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seconds. Bridge from the attributed statement on slide 3: a claim also needs to remain current when source records change. Imagine answering which launch-region decision is in force today. These are three actual owner value records from the synthetic fixture, not a real company or invented real region names. Higher revision numbers mean newer versions. Read the rule first: choose the latest approval still in force. Revision 5 remains approved and valid; revision 11 was approved but is explicitly revoked by a separate regulatory record; revision 14 is a draft. Ask the audience to choose, then pause before revealing slide 5. This is a reduced teaching example, not all 64 rows: imported and future-effective candidates and distractors are omitted here but preserved in examples.json. Full harness rules still determine the benchmark answer.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 Keep the three choices in the same left-to-right order so the answer requires no new decoding. Revision 5 is the latest approval still in force among these candidates. The newer approval was withdrawn; the newest version is only a draft. Highlight revision 5, then point to the saved source. The lower panel is a readable summary of the resolved row, not a verbatim model response or an invented launch region. The exact synthetic value is launch_region_governed_000; the full source is src/adversarial_project_000/launch_region/owner-approved-r5.md. Both appear in examples.json and the response appendix. In the experiment this resolved input is supplied from expected fields: it tests reading from a resolved record, not end-to-end compilation. Transition: after resolving this once, why make every new question do the same work again?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 seconds. Walk across the top lane: find candidate evidence, reconstruct which rows govern, answer, then repeat for the next query. Bottom lane: normalize and resolve when a source changes, persist, and read the resulting current state. The database analogy is a maintained materialized view. This is not a cache of a previous answer: one stored fact can support different questions. Keep a boundary between the proposed end-to-end architecture and what is measured in the following two experiments. The raw-context comparison is this paper’s QSR baseline, not a claim about every RAG design.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 The model is DeepSeek V4 Flash in both arms. Left gets 64 noisy typed rows and explicit governance rules. Right gets one reference-resolved row built from the generator’s expected value, source and revision. This is an input-condition contrast. The synthetic harness does not measure an end-to-end learned compiler, and a measured deterministic rule-filtering arm remains future work. Six question types repeat over five seeds; thirty runs do not imply thirty independently sampled tasks. The stricter success rule checks the value and exact source and revision. Both arms have a 1,024-token completion cap; failures must be interpreted in that setting.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65 seconds. Pause on the two counts before showing any cost figure. A filled circle is an exact parseable answer, not simply an attempted response. All 29 QSR failures reached the completion limit without a parseable final answer. Do not call them 29 confidently wrong factual answers. The observed result is that the low-cost reader can reliably finish this much simpler reference-resolved job under the tested budget. It is not a capability ceiling for QSR with longer completions or a better deterministic baseline. Table III also gives 12.89× lower mean read cost and latency 8.87 versus 3.06 seconds, reserved here for the appendix so the audience keeps one main takeaway.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 seconds. Now remove the failure case: simpler revision questions were answered exactly in both arms. The bars begin at zero and share the same scale. 9,777 versus 453 total tokens per question is a 21.6× difference. Interpret it as repeated reading and answering work saved in this controlled task. The corresponding mean cost ratio is 14.21, while mean latency was nearly unchanged at 3.40 versus 3.30 seconds. Do not equate token savings to latency or energy. Cost is marginal read cost only; full ingest and maintenance economics are not established here.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seconds. Return to the real dialogue shown at the start. We are comparing Human Dialogue, specifically Federal Reserve press-conference Q&amp;A, with Wikipedia content. The source styles start in different places. Speech contains repetition, fillers and references that rely on surrounding context. Wikipedia has already been “compiled” in a useful editorial sense: human editors remove fluff and make language clear and self-contained. That analogy is our interpretation of the source-style result, not a measured causal effect of editing and not a claim that Wikipedia is a typed, governance-resolved fact store. The measured result is 49% of original tokens for dialogue versus 103% for Wikipedia after rephrasing: roughly half as much text versus no compression. These are aggregate ratios, not the ratio of the single opening quote or a claim about every dialogue/article. S2 is separate from the synthetic governance comparison. Automatic entailment rates are 97.6% and 100%; QA fidelity is 92.0% and 96.7%, retained in appendix 14. Transition: removing words is useful only if the claims that matter survive; the next slide shows an actual omission.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seconds. This second real example is from the same saved S2 run. The journalist states that the statement preserves the easing language. The generated list captures movement toward a neutral stance and other facts, but omits the key unchanged-language claim. Read the question aloud: “Did the statement change?” The concise fact list cannot reliably answer it from the omitted content. The original source remains available for audit. The automatic judge flagged this missing major claim; its separate year-related entailment criticism is not asserted as an independently validated error. This is a concrete reason to evaluate coverage as well as fidelity and to return to sources when needed.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seconds. Close by recalling the two examples: a sentence now names its speaker and subject; a revised record now carries the correct governing source. The results establish a controlled read-path advantage and a real-passage rephrasing result, separately. The promise is useful; the next milestone is a real revision stream with measured compilation, deterministic comparators and source audits. Do not claim that full system has already been validated. Invite questions after pointing to the open artifacts. Twelve main slides total ten minutes, followed by untimed appendices.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 seconds. This is one actual pair, not an aggregate. The QSR completion begins with the quoted sentence and ends without parseable final JSON at the 1,024-token cap. The complete output is archived in examples.json. ISC returned exact value, source and revision. The JSON shown omits rationale and abbreviates the source path for space, labelled explicitly; no token or latency values here should be confused with Table III aggregates.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 seconds. This page groups the numerical results by experiment. No results are pooled between studies. Adversarial exactness is value/source/revision. Simple revision token totals include prompt plus completion. S2 token ratio compares original passage content against fact content. S2 costs are reconstructed from frozen text/tokenizer and exclude fidelity judging; no full empirical break-even. Latency difference on the simple tasks is small despite the large token gap.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 seconds. The reference-resolved arm uses generator expected fields. This isolates reading from governance reconstruction and does not validate an autonomous compiler. A query-time deterministic filter is an important unmeasured comparator once the input is typed. More output budget could change the observed QSR failure. Stronger-model spot checks use only three adversarial questions per seed and should not be treated as the same six-question comparison. Pro’s cost sweep uses two simple questions per seed. Real source S2 judgments are automatic; the quote demonstrations are not a human agreement study.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 seconds. Do not conflate the three papers. This deck is the iCAST fact-compilation paper #1571327482. The companion maintenance study is cited context, not this talk’s experimental evidence. The separate ISC-RAG paper uses MediaSum results, which are not shown here. All example extracts are from archived records; full contexts and original outputs are preserved with hashes. Source URLs describe the archived experiment provenance, not newly collected measurements.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1B3E7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D47BB-A2D5-0743-061B-90C471C2A2BA}"/>
              </a:ext>
            </a:extLst>
          </p:cNvPr>
          <p:cNvSpPr>
            <a:spLocks noGrp="1"/>
          </p:cNvSpPr>
          <p:nvPr>
            <p:ph type="ctrTitle"/>
          </p:nvPr>
        </p:nvSpPr>
        <p:spPr>
          <a:xfrm>
            <a:off x="2438400" y="1254246"/>
            <a:ext cx="8712642" cy="2441247"/>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6958D018-C02E-D5BE-CD54-0C2AD276D28E}"/>
              </a:ext>
            </a:extLst>
          </p:cNvPr>
          <p:cNvSpPr>
            <a:spLocks noGrp="1"/>
          </p:cNvSpPr>
          <p:nvPr>
            <p:ph type="subTitle" idx="1"/>
          </p:nvPr>
        </p:nvSpPr>
        <p:spPr>
          <a:xfrm>
            <a:off x="2438400" y="3750365"/>
            <a:ext cx="8712642" cy="169296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310263A-5461-C6E3-4D21-D30914587B97}"/>
              </a:ext>
            </a:extLst>
          </p:cNvPr>
          <p:cNvSpPr>
            <a:spLocks noGrp="1"/>
          </p:cNvSpPr>
          <p:nvPr>
            <p:ph type="dt" sz="half" idx="10"/>
          </p:nvPr>
        </p:nvSpPr>
        <p:spPr/>
        <p:txBody>
          <a:bodyPr/>
          <a:lstStyle/>
          <a:p>
            <a:fld id="{C2D21159-2E4B-0E48-A24A-027C3D653434}" type="datetimeFigureOut">
              <a:rPr lang="en-US" smtClean="0"/>
              <a:t>8/29/26</a:t>
            </a:fld>
            <a:endParaRPr lang="en-US"/>
          </a:p>
        </p:txBody>
      </p:sp>
      <p:sp>
        <p:nvSpPr>
          <p:cNvPr id="5" name="Footer Placeholder 4">
            <a:extLst>
              <a:ext uri="{FF2B5EF4-FFF2-40B4-BE49-F238E27FC236}">
                <a16:creationId xmlns:a16="http://schemas.microsoft.com/office/drawing/2014/main" id="{3EB63F9F-8E3B-CA80-7A57-E9C0DE4A1D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7498A1-F8D7-573E-69AC-87A1CA9C9C18}"/>
              </a:ext>
            </a:extLst>
          </p:cNvPr>
          <p:cNvSpPr>
            <a:spLocks noGrp="1"/>
          </p:cNvSpPr>
          <p:nvPr>
            <p:ph type="sldNum" sz="quarter" idx="12"/>
          </p:nvPr>
        </p:nvSpPr>
        <p:spPr/>
        <p:txBody>
          <a:bodyPr/>
          <a:lstStyle/>
          <a:p>
            <a:fld id="{0E646067-DA67-A947-8E64-C5194C9F5927}" type="slidenum">
              <a:rPr lang="en-US" smtClean="0"/>
              <a:t>‹#›</a:t>
            </a:fld>
            <a:endParaRPr lang="en-US"/>
          </a:p>
        </p:txBody>
      </p:sp>
      <p:pic>
        <p:nvPicPr>
          <p:cNvPr id="10" name="Picture 9">
            <a:extLst>
              <a:ext uri="{FF2B5EF4-FFF2-40B4-BE49-F238E27FC236}">
                <a16:creationId xmlns:a16="http://schemas.microsoft.com/office/drawing/2014/main" id="{795D3A84-3222-B3FB-2F37-7023F3B0CF93}"/>
              </a:ext>
            </a:extLst>
          </p:cNvPr>
          <p:cNvPicPr>
            <a:picLocks noChangeAspect="1"/>
          </p:cNvPicPr>
          <p:nvPr userDrawn="1"/>
        </p:nvPicPr>
        <p:blipFill>
          <a:blip r:embed="rId2"/>
          <a:stretch>
            <a:fillRect/>
          </a:stretch>
        </p:blipFill>
        <p:spPr>
          <a:xfrm>
            <a:off x="0" y="0"/>
            <a:ext cx="2092150" cy="6175513"/>
          </a:xfrm>
          <a:prstGeom prst="rect">
            <a:avLst/>
          </a:prstGeom>
        </p:spPr>
      </p:pic>
    </p:spTree>
    <p:extLst>
      <p:ext uri="{BB962C8B-B14F-4D97-AF65-F5344CB8AC3E}">
        <p14:creationId xmlns:p14="http://schemas.microsoft.com/office/powerpoint/2010/main" val="380719273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F986C-48D2-42AA-0E4F-C999DC29DE2A}"/>
              </a:ext>
            </a:extLst>
          </p:cNvPr>
          <p:cNvSpPr>
            <a:spLocks noGrp="1"/>
          </p:cNvSpPr>
          <p:nvPr>
            <p:ph type="title"/>
          </p:nvPr>
        </p:nvSpPr>
        <p:spPr>
          <a:xfrm>
            <a:off x="1408044" y="312117"/>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C543C3E-3E63-C3F3-3892-0CDEB6B45088}"/>
              </a:ext>
            </a:extLst>
          </p:cNvPr>
          <p:cNvSpPr>
            <a:spLocks noGrp="1"/>
          </p:cNvSpPr>
          <p:nvPr>
            <p:ph idx="1"/>
          </p:nvPr>
        </p:nvSpPr>
        <p:spPr>
          <a:xfrm>
            <a:off x="1408044" y="1772617"/>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B7E6E5-B66B-E758-E53A-7AABB2A059CC}"/>
              </a:ext>
            </a:extLst>
          </p:cNvPr>
          <p:cNvSpPr>
            <a:spLocks noGrp="1"/>
          </p:cNvSpPr>
          <p:nvPr>
            <p:ph type="dt" sz="half" idx="10"/>
          </p:nvPr>
        </p:nvSpPr>
        <p:spPr/>
        <p:txBody>
          <a:bodyPr/>
          <a:lstStyle/>
          <a:p>
            <a:fld id="{C2D21159-2E4B-0E48-A24A-027C3D653434}" type="datetimeFigureOut">
              <a:rPr lang="en-US" smtClean="0"/>
              <a:t>8/29/26</a:t>
            </a:fld>
            <a:endParaRPr lang="en-US"/>
          </a:p>
        </p:txBody>
      </p:sp>
      <p:sp>
        <p:nvSpPr>
          <p:cNvPr id="5" name="Footer Placeholder 4">
            <a:extLst>
              <a:ext uri="{FF2B5EF4-FFF2-40B4-BE49-F238E27FC236}">
                <a16:creationId xmlns:a16="http://schemas.microsoft.com/office/drawing/2014/main" id="{4B1D42ED-4B9C-60E6-EB4A-FA416578E7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4F4968-6425-1189-1ADF-DD8D09535BF2}"/>
              </a:ext>
            </a:extLst>
          </p:cNvPr>
          <p:cNvSpPr>
            <a:spLocks noGrp="1"/>
          </p:cNvSpPr>
          <p:nvPr>
            <p:ph type="sldNum" sz="quarter" idx="12"/>
          </p:nvPr>
        </p:nvSpPr>
        <p:spPr/>
        <p:txBody>
          <a:bodyPr/>
          <a:lstStyle/>
          <a:p>
            <a:fld id="{0E646067-DA67-A947-8E64-C5194C9F5927}" type="slidenum">
              <a:rPr lang="en-US" smtClean="0"/>
              <a:t>‹#›</a:t>
            </a:fld>
            <a:endParaRPr lang="en-US"/>
          </a:p>
        </p:txBody>
      </p:sp>
      <p:pic>
        <p:nvPicPr>
          <p:cNvPr id="10" name="Picture 9">
            <a:extLst>
              <a:ext uri="{FF2B5EF4-FFF2-40B4-BE49-F238E27FC236}">
                <a16:creationId xmlns:a16="http://schemas.microsoft.com/office/drawing/2014/main" id="{733990B4-8457-4D73-F9AD-5240F0F9568B}"/>
              </a:ext>
            </a:extLst>
          </p:cNvPr>
          <p:cNvPicPr>
            <a:picLocks noChangeAspect="1"/>
          </p:cNvPicPr>
          <p:nvPr userDrawn="1"/>
        </p:nvPicPr>
        <p:blipFill>
          <a:blip r:embed="rId2"/>
          <a:stretch>
            <a:fillRect/>
          </a:stretch>
        </p:blipFill>
        <p:spPr>
          <a:xfrm>
            <a:off x="170070" y="136525"/>
            <a:ext cx="1097100" cy="645353"/>
          </a:xfrm>
          <a:prstGeom prst="rect">
            <a:avLst/>
          </a:prstGeom>
        </p:spPr>
      </p:pic>
    </p:spTree>
    <p:extLst>
      <p:ext uri="{BB962C8B-B14F-4D97-AF65-F5344CB8AC3E}">
        <p14:creationId xmlns:p14="http://schemas.microsoft.com/office/powerpoint/2010/main" val="762131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1B3E7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7FA2F-DDF9-2A49-0971-D3EC69D5CD03}"/>
              </a:ext>
            </a:extLst>
          </p:cNvPr>
          <p:cNvSpPr>
            <a:spLocks noGrp="1"/>
          </p:cNvSpPr>
          <p:nvPr>
            <p:ph type="title"/>
          </p:nvPr>
        </p:nvSpPr>
        <p:spPr>
          <a:xfrm>
            <a:off x="2186608" y="1630225"/>
            <a:ext cx="9637919" cy="2852737"/>
          </a:xfrm>
        </p:spPr>
        <p:txBody>
          <a:bodyPr anchor="b"/>
          <a:lstStyle>
            <a:lvl1pPr>
              <a:defRPr sz="6000"/>
            </a:lvl1pPr>
          </a:lstStyle>
          <a:p>
            <a:endParaRPr lang="en-US" dirty="0"/>
          </a:p>
        </p:txBody>
      </p:sp>
      <p:sp>
        <p:nvSpPr>
          <p:cNvPr id="3" name="Text Placeholder 2">
            <a:extLst>
              <a:ext uri="{FF2B5EF4-FFF2-40B4-BE49-F238E27FC236}">
                <a16:creationId xmlns:a16="http://schemas.microsoft.com/office/drawing/2014/main" id="{66B9D8AA-3D3D-8529-3E61-6D2CE4488BF6}"/>
              </a:ext>
            </a:extLst>
          </p:cNvPr>
          <p:cNvSpPr>
            <a:spLocks noGrp="1"/>
          </p:cNvSpPr>
          <p:nvPr>
            <p:ph type="body" idx="1"/>
          </p:nvPr>
        </p:nvSpPr>
        <p:spPr>
          <a:xfrm>
            <a:off x="2186608" y="4509950"/>
            <a:ext cx="9637919"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F584BC8B-E608-1D98-A017-55E9413C2CFA}"/>
              </a:ext>
            </a:extLst>
          </p:cNvPr>
          <p:cNvSpPr>
            <a:spLocks noGrp="1"/>
          </p:cNvSpPr>
          <p:nvPr>
            <p:ph type="dt" sz="half" idx="10"/>
          </p:nvPr>
        </p:nvSpPr>
        <p:spPr/>
        <p:txBody>
          <a:bodyPr/>
          <a:lstStyle/>
          <a:p>
            <a:fld id="{C2D21159-2E4B-0E48-A24A-027C3D653434}" type="datetimeFigureOut">
              <a:rPr lang="en-US" smtClean="0"/>
              <a:t>8/29/26</a:t>
            </a:fld>
            <a:endParaRPr lang="en-US"/>
          </a:p>
        </p:txBody>
      </p:sp>
      <p:sp>
        <p:nvSpPr>
          <p:cNvPr id="5" name="Footer Placeholder 4">
            <a:extLst>
              <a:ext uri="{FF2B5EF4-FFF2-40B4-BE49-F238E27FC236}">
                <a16:creationId xmlns:a16="http://schemas.microsoft.com/office/drawing/2014/main" id="{CE9CC10E-9701-1383-C230-EF3AD04959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24DDB1-836C-1A87-53DA-EC78FEB2DD94}"/>
              </a:ext>
            </a:extLst>
          </p:cNvPr>
          <p:cNvSpPr>
            <a:spLocks noGrp="1"/>
          </p:cNvSpPr>
          <p:nvPr>
            <p:ph type="sldNum" sz="quarter" idx="12"/>
          </p:nvPr>
        </p:nvSpPr>
        <p:spPr/>
        <p:txBody>
          <a:bodyPr/>
          <a:lstStyle/>
          <a:p>
            <a:fld id="{0E646067-DA67-A947-8E64-C5194C9F5927}" type="slidenum">
              <a:rPr lang="en-US" smtClean="0"/>
              <a:t>‹#›</a:t>
            </a:fld>
            <a:endParaRPr lang="en-US"/>
          </a:p>
        </p:txBody>
      </p:sp>
      <p:pic>
        <p:nvPicPr>
          <p:cNvPr id="7" name="Picture 6">
            <a:extLst>
              <a:ext uri="{FF2B5EF4-FFF2-40B4-BE49-F238E27FC236}">
                <a16:creationId xmlns:a16="http://schemas.microsoft.com/office/drawing/2014/main" id="{B8182303-E881-C99D-04F7-4F27A53D8514}"/>
              </a:ext>
            </a:extLst>
          </p:cNvPr>
          <p:cNvPicPr>
            <a:picLocks noChangeAspect="1"/>
          </p:cNvPicPr>
          <p:nvPr userDrawn="1"/>
        </p:nvPicPr>
        <p:blipFill>
          <a:blip r:embed="rId2"/>
          <a:stretch>
            <a:fillRect/>
          </a:stretch>
        </p:blipFill>
        <p:spPr>
          <a:xfrm>
            <a:off x="0" y="0"/>
            <a:ext cx="2092150" cy="6175513"/>
          </a:xfrm>
          <a:prstGeom prst="rect">
            <a:avLst/>
          </a:prstGeom>
        </p:spPr>
      </p:pic>
    </p:spTree>
    <p:extLst>
      <p:ext uri="{BB962C8B-B14F-4D97-AF65-F5344CB8AC3E}">
        <p14:creationId xmlns:p14="http://schemas.microsoft.com/office/powerpoint/2010/main" val="170163107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1865D-E7E8-75FD-68DC-2CF7E1ED874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FCB869-31B2-A3CF-F8D4-61F4C05488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492A282-ADAE-2083-F0CB-E001DAB81E3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0CA1AD-C2D8-4A3F-2D52-D99D3B80327C}"/>
              </a:ext>
            </a:extLst>
          </p:cNvPr>
          <p:cNvSpPr>
            <a:spLocks noGrp="1"/>
          </p:cNvSpPr>
          <p:nvPr>
            <p:ph type="dt" sz="half" idx="10"/>
          </p:nvPr>
        </p:nvSpPr>
        <p:spPr/>
        <p:txBody>
          <a:bodyPr/>
          <a:lstStyle/>
          <a:p>
            <a:fld id="{C2D21159-2E4B-0E48-A24A-027C3D653434}" type="datetimeFigureOut">
              <a:rPr lang="en-US" smtClean="0"/>
              <a:t>8/29/26</a:t>
            </a:fld>
            <a:endParaRPr lang="en-US"/>
          </a:p>
        </p:txBody>
      </p:sp>
      <p:sp>
        <p:nvSpPr>
          <p:cNvPr id="6" name="Footer Placeholder 5">
            <a:extLst>
              <a:ext uri="{FF2B5EF4-FFF2-40B4-BE49-F238E27FC236}">
                <a16:creationId xmlns:a16="http://schemas.microsoft.com/office/drawing/2014/main" id="{A31F2E94-C9EF-97FA-03B4-4EC80AE2EF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07EEB7-F2EF-E529-36C3-AA9614286DCA}"/>
              </a:ext>
            </a:extLst>
          </p:cNvPr>
          <p:cNvSpPr>
            <a:spLocks noGrp="1"/>
          </p:cNvSpPr>
          <p:nvPr>
            <p:ph type="sldNum" sz="quarter" idx="12"/>
          </p:nvPr>
        </p:nvSpPr>
        <p:spPr/>
        <p:txBody>
          <a:bodyPr/>
          <a:lstStyle/>
          <a:p>
            <a:fld id="{0E646067-DA67-A947-8E64-C5194C9F5927}" type="slidenum">
              <a:rPr lang="en-US" smtClean="0"/>
              <a:t>‹#›</a:t>
            </a:fld>
            <a:endParaRPr lang="en-US"/>
          </a:p>
        </p:txBody>
      </p:sp>
    </p:spTree>
    <p:extLst>
      <p:ext uri="{BB962C8B-B14F-4D97-AF65-F5344CB8AC3E}">
        <p14:creationId xmlns:p14="http://schemas.microsoft.com/office/powerpoint/2010/main" val="4069623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90815-0EC9-5D01-2872-73D9673AC3D4}"/>
              </a:ext>
            </a:extLst>
          </p:cNvPr>
          <p:cNvSpPr>
            <a:spLocks noGrp="1"/>
          </p:cNvSpPr>
          <p:nvPr>
            <p:ph type="title"/>
          </p:nvPr>
        </p:nvSpPr>
        <p:spPr>
          <a:xfrm>
            <a:off x="1422883" y="338621"/>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32A9DC9-2FFF-EB21-B030-0F57EC3CF08E}"/>
              </a:ext>
            </a:extLst>
          </p:cNvPr>
          <p:cNvSpPr>
            <a:spLocks noGrp="1"/>
          </p:cNvSpPr>
          <p:nvPr>
            <p:ph type="body" idx="1"/>
          </p:nvPr>
        </p:nvSpPr>
        <p:spPr>
          <a:xfrm>
            <a:off x="1422883" y="1654659"/>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3BA33A-E9FF-8DCC-663D-76276AC2BF67}"/>
              </a:ext>
            </a:extLst>
          </p:cNvPr>
          <p:cNvSpPr>
            <a:spLocks noGrp="1"/>
          </p:cNvSpPr>
          <p:nvPr>
            <p:ph sz="half" idx="2"/>
          </p:nvPr>
        </p:nvSpPr>
        <p:spPr>
          <a:xfrm>
            <a:off x="1422883" y="2478571"/>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B5AED6A-7429-DB75-E41B-00BF49B9A46F}"/>
              </a:ext>
            </a:extLst>
          </p:cNvPr>
          <p:cNvSpPr>
            <a:spLocks noGrp="1"/>
          </p:cNvSpPr>
          <p:nvPr>
            <p:ph type="body" sz="quarter" idx="3"/>
          </p:nvPr>
        </p:nvSpPr>
        <p:spPr>
          <a:xfrm>
            <a:off x="6755295" y="1654659"/>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F3C9F9-871C-8A84-6CF1-1D666990F2A3}"/>
              </a:ext>
            </a:extLst>
          </p:cNvPr>
          <p:cNvSpPr>
            <a:spLocks noGrp="1"/>
          </p:cNvSpPr>
          <p:nvPr>
            <p:ph sz="quarter" idx="4"/>
          </p:nvPr>
        </p:nvSpPr>
        <p:spPr>
          <a:xfrm>
            <a:off x="6755295" y="2478571"/>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3B5C80-4BD1-8EAE-7DEC-3CA720E84E9A}"/>
              </a:ext>
            </a:extLst>
          </p:cNvPr>
          <p:cNvSpPr>
            <a:spLocks noGrp="1"/>
          </p:cNvSpPr>
          <p:nvPr>
            <p:ph type="dt" sz="half" idx="10"/>
          </p:nvPr>
        </p:nvSpPr>
        <p:spPr/>
        <p:txBody>
          <a:bodyPr/>
          <a:lstStyle/>
          <a:p>
            <a:fld id="{C2D21159-2E4B-0E48-A24A-027C3D653434}" type="datetimeFigureOut">
              <a:rPr lang="en-US" smtClean="0"/>
              <a:t>8/29/26</a:t>
            </a:fld>
            <a:endParaRPr lang="en-US"/>
          </a:p>
        </p:txBody>
      </p:sp>
      <p:sp>
        <p:nvSpPr>
          <p:cNvPr id="8" name="Footer Placeholder 7">
            <a:extLst>
              <a:ext uri="{FF2B5EF4-FFF2-40B4-BE49-F238E27FC236}">
                <a16:creationId xmlns:a16="http://schemas.microsoft.com/office/drawing/2014/main" id="{45B49DC8-47FF-103E-BE4A-3EA36E3B75E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CCB2C5F-9DCE-03A8-52C1-693892C580F5}"/>
              </a:ext>
            </a:extLst>
          </p:cNvPr>
          <p:cNvSpPr>
            <a:spLocks noGrp="1"/>
          </p:cNvSpPr>
          <p:nvPr>
            <p:ph type="sldNum" sz="quarter" idx="12"/>
          </p:nvPr>
        </p:nvSpPr>
        <p:spPr/>
        <p:txBody>
          <a:bodyPr/>
          <a:lstStyle/>
          <a:p>
            <a:fld id="{0E646067-DA67-A947-8E64-C5194C9F5927}" type="slidenum">
              <a:rPr lang="en-US" smtClean="0"/>
              <a:t>‹#›</a:t>
            </a:fld>
            <a:endParaRPr lang="en-US"/>
          </a:p>
        </p:txBody>
      </p:sp>
    </p:spTree>
    <p:extLst>
      <p:ext uri="{BB962C8B-B14F-4D97-AF65-F5344CB8AC3E}">
        <p14:creationId xmlns:p14="http://schemas.microsoft.com/office/powerpoint/2010/main" val="2750059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0623B-1EFE-4D00-571D-564008EF78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A6CA14C-5DAC-9917-20AB-B2DFADD8B08F}"/>
              </a:ext>
            </a:extLst>
          </p:cNvPr>
          <p:cNvSpPr>
            <a:spLocks noGrp="1"/>
          </p:cNvSpPr>
          <p:nvPr>
            <p:ph type="dt" sz="half" idx="10"/>
          </p:nvPr>
        </p:nvSpPr>
        <p:spPr/>
        <p:txBody>
          <a:bodyPr/>
          <a:lstStyle/>
          <a:p>
            <a:fld id="{C2D21159-2E4B-0E48-A24A-027C3D653434}" type="datetimeFigureOut">
              <a:rPr lang="en-US" smtClean="0"/>
              <a:t>8/29/26</a:t>
            </a:fld>
            <a:endParaRPr lang="en-US"/>
          </a:p>
        </p:txBody>
      </p:sp>
      <p:sp>
        <p:nvSpPr>
          <p:cNvPr id="4" name="Footer Placeholder 3">
            <a:extLst>
              <a:ext uri="{FF2B5EF4-FFF2-40B4-BE49-F238E27FC236}">
                <a16:creationId xmlns:a16="http://schemas.microsoft.com/office/drawing/2014/main" id="{970BD44F-43AB-8C6D-3081-D49FF02E47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943BD72-EF0F-5DDC-0656-B99AE6797B8A}"/>
              </a:ext>
            </a:extLst>
          </p:cNvPr>
          <p:cNvSpPr>
            <a:spLocks noGrp="1"/>
          </p:cNvSpPr>
          <p:nvPr>
            <p:ph type="sldNum" sz="quarter" idx="12"/>
          </p:nvPr>
        </p:nvSpPr>
        <p:spPr/>
        <p:txBody>
          <a:bodyPr/>
          <a:lstStyle/>
          <a:p>
            <a:fld id="{0E646067-DA67-A947-8E64-C5194C9F5927}" type="slidenum">
              <a:rPr lang="en-US" smtClean="0"/>
              <a:t>‹#›</a:t>
            </a:fld>
            <a:endParaRPr lang="en-US"/>
          </a:p>
        </p:txBody>
      </p:sp>
    </p:spTree>
    <p:extLst>
      <p:ext uri="{BB962C8B-B14F-4D97-AF65-F5344CB8AC3E}">
        <p14:creationId xmlns:p14="http://schemas.microsoft.com/office/powerpoint/2010/main" val="5134501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1981A5-6DA9-4156-6850-66C477D3E3AF}"/>
              </a:ext>
            </a:extLst>
          </p:cNvPr>
          <p:cNvSpPr>
            <a:spLocks noGrp="1"/>
          </p:cNvSpPr>
          <p:nvPr>
            <p:ph type="dt" sz="half" idx="10"/>
          </p:nvPr>
        </p:nvSpPr>
        <p:spPr/>
        <p:txBody>
          <a:bodyPr/>
          <a:lstStyle/>
          <a:p>
            <a:fld id="{C2D21159-2E4B-0E48-A24A-027C3D653434}" type="datetimeFigureOut">
              <a:rPr lang="en-US" smtClean="0"/>
              <a:t>8/29/26</a:t>
            </a:fld>
            <a:endParaRPr lang="en-US"/>
          </a:p>
        </p:txBody>
      </p:sp>
      <p:sp>
        <p:nvSpPr>
          <p:cNvPr id="3" name="Footer Placeholder 2">
            <a:extLst>
              <a:ext uri="{FF2B5EF4-FFF2-40B4-BE49-F238E27FC236}">
                <a16:creationId xmlns:a16="http://schemas.microsoft.com/office/drawing/2014/main" id="{815BA709-5B1B-361E-FD19-840DE477792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C03AA2C-16D7-7DF0-71A7-E105C5ED821F}"/>
              </a:ext>
            </a:extLst>
          </p:cNvPr>
          <p:cNvSpPr>
            <a:spLocks noGrp="1"/>
          </p:cNvSpPr>
          <p:nvPr>
            <p:ph type="sldNum" sz="quarter" idx="12"/>
          </p:nvPr>
        </p:nvSpPr>
        <p:spPr/>
        <p:txBody>
          <a:bodyPr/>
          <a:lstStyle/>
          <a:p>
            <a:fld id="{0E646067-DA67-A947-8E64-C5194C9F5927}" type="slidenum">
              <a:rPr lang="en-US" smtClean="0"/>
              <a:t>‹#›</a:t>
            </a:fld>
            <a:endParaRPr lang="en-US"/>
          </a:p>
        </p:txBody>
      </p:sp>
    </p:spTree>
    <p:extLst>
      <p:ext uri="{BB962C8B-B14F-4D97-AF65-F5344CB8AC3E}">
        <p14:creationId xmlns:p14="http://schemas.microsoft.com/office/powerpoint/2010/main" val="14280294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8B769-8326-B170-4842-469CE23D0C1B}"/>
              </a:ext>
            </a:extLst>
          </p:cNvPr>
          <p:cNvSpPr>
            <a:spLocks noGrp="1"/>
          </p:cNvSpPr>
          <p:nvPr>
            <p:ph type="title"/>
          </p:nvPr>
        </p:nvSpPr>
        <p:spPr>
          <a:xfrm>
            <a:off x="1396379" y="470452"/>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E7DF0AC-FA0C-30BC-2CE6-7AE2B7DC7955}"/>
              </a:ext>
            </a:extLst>
          </p:cNvPr>
          <p:cNvSpPr>
            <a:spLocks noGrp="1"/>
          </p:cNvSpPr>
          <p:nvPr>
            <p:ph idx="1"/>
          </p:nvPr>
        </p:nvSpPr>
        <p:spPr>
          <a:xfrm>
            <a:off x="5739779" y="100067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852E692-2CE2-118F-CC39-FA0CF9BCE1DA}"/>
              </a:ext>
            </a:extLst>
          </p:cNvPr>
          <p:cNvSpPr>
            <a:spLocks noGrp="1"/>
          </p:cNvSpPr>
          <p:nvPr>
            <p:ph type="body" sz="half" idx="2"/>
          </p:nvPr>
        </p:nvSpPr>
        <p:spPr>
          <a:xfrm>
            <a:off x="1396379" y="2070652"/>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37266D-D56F-C9CD-5CDC-4A7519A5AB65}"/>
              </a:ext>
            </a:extLst>
          </p:cNvPr>
          <p:cNvSpPr>
            <a:spLocks noGrp="1"/>
          </p:cNvSpPr>
          <p:nvPr>
            <p:ph type="dt" sz="half" idx="10"/>
          </p:nvPr>
        </p:nvSpPr>
        <p:spPr/>
        <p:txBody>
          <a:bodyPr/>
          <a:lstStyle/>
          <a:p>
            <a:fld id="{C2D21159-2E4B-0E48-A24A-027C3D653434}" type="datetimeFigureOut">
              <a:rPr lang="en-US" smtClean="0"/>
              <a:t>8/29/26</a:t>
            </a:fld>
            <a:endParaRPr lang="en-US"/>
          </a:p>
        </p:txBody>
      </p:sp>
      <p:sp>
        <p:nvSpPr>
          <p:cNvPr id="6" name="Footer Placeholder 5">
            <a:extLst>
              <a:ext uri="{FF2B5EF4-FFF2-40B4-BE49-F238E27FC236}">
                <a16:creationId xmlns:a16="http://schemas.microsoft.com/office/drawing/2014/main" id="{6484ACA4-F039-9F14-1EE4-AD36A11896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A433EF-84CB-29E9-24A8-A2DA94182FFA}"/>
              </a:ext>
            </a:extLst>
          </p:cNvPr>
          <p:cNvSpPr>
            <a:spLocks noGrp="1"/>
          </p:cNvSpPr>
          <p:nvPr>
            <p:ph type="sldNum" sz="quarter" idx="12"/>
          </p:nvPr>
        </p:nvSpPr>
        <p:spPr/>
        <p:txBody>
          <a:bodyPr/>
          <a:lstStyle/>
          <a:p>
            <a:fld id="{0E646067-DA67-A947-8E64-C5194C9F5927}" type="slidenum">
              <a:rPr lang="en-US" smtClean="0"/>
              <a:t>‹#›</a:t>
            </a:fld>
            <a:endParaRPr lang="en-US"/>
          </a:p>
        </p:txBody>
      </p:sp>
    </p:spTree>
    <p:extLst>
      <p:ext uri="{BB962C8B-B14F-4D97-AF65-F5344CB8AC3E}">
        <p14:creationId xmlns:p14="http://schemas.microsoft.com/office/powerpoint/2010/main" val="41354747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141A8-6C9A-8C82-DEFB-AE85FF168F3C}"/>
              </a:ext>
            </a:extLst>
          </p:cNvPr>
          <p:cNvSpPr>
            <a:spLocks noGrp="1"/>
          </p:cNvSpPr>
          <p:nvPr>
            <p:ph type="title"/>
          </p:nvPr>
        </p:nvSpPr>
        <p:spPr>
          <a:xfrm>
            <a:off x="1369875" y="470452"/>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CCE91F8-9907-4703-EAC4-7C36226D9CF8}"/>
              </a:ext>
            </a:extLst>
          </p:cNvPr>
          <p:cNvSpPr>
            <a:spLocks noGrp="1"/>
          </p:cNvSpPr>
          <p:nvPr>
            <p:ph type="pic" idx="1"/>
          </p:nvPr>
        </p:nvSpPr>
        <p:spPr>
          <a:xfrm>
            <a:off x="5713275" y="100067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C7E008-4D31-AFC8-9AF6-E41CD1DA9752}"/>
              </a:ext>
            </a:extLst>
          </p:cNvPr>
          <p:cNvSpPr>
            <a:spLocks noGrp="1"/>
          </p:cNvSpPr>
          <p:nvPr>
            <p:ph type="body" sz="half" idx="2"/>
          </p:nvPr>
        </p:nvSpPr>
        <p:spPr>
          <a:xfrm>
            <a:off x="1369875" y="2070652"/>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D309C7-760C-CF84-BF86-34806D0B821E}"/>
              </a:ext>
            </a:extLst>
          </p:cNvPr>
          <p:cNvSpPr>
            <a:spLocks noGrp="1"/>
          </p:cNvSpPr>
          <p:nvPr>
            <p:ph type="dt" sz="half" idx="10"/>
          </p:nvPr>
        </p:nvSpPr>
        <p:spPr/>
        <p:txBody>
          <a:bodyPr/>
          <a:lstStyle/>
          <a:p>
            <a:fld id="{C2D21159-2E4B-0E48-A24A-027C3D653434}" type="datetimeFigureOut">
              <a:rPr lang="en-US" smtClean="0"/>
              <a:t>8/29/26</a:t>
            </a:fld>
            <a:endParaRPr lang="en-US"/>
          </a:p>
        </p:txBody>
      </p:sp>
      <p:sp>
        <p:nvSpPr>
          <p:cNvPr id="6" name="Footer Placeholder 5">
            <a:extLst>
              <a:ext uri="{FF2B5EF4-FFF2-40B4-BE49-F238E27FC236}">
                <a16:creationId xmlns:a16="http://schemas.microsoft.com/office/drawing/2014/main" id="{8F79BAA6-F14D-B0D0-5243-A7151795FA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882583-24B9-9CA0-6C89-7F2692432067}"/>
              </a:ext>
            </a:extLst>
          </p:cNvPr>
          <p:cNvSpPr>
            <a:spLocks noGrp="1"/>
          </p:cNvSpPr>
          <p:nvPr>
            <p:ph type="sldNum" sz="quarter" idx="12"/>
          </p:nvPr>
        </p:nvSpPr>
        <p:spPr/>
        <p:txBody>
          <a:bodyPr/>
          <a:lstStyle/>
          <a:p>
            <a:fld id="{0E646067-DA67-A947-8E64-C5194C9F5927}" type="slidenum">
              <a:rPr lang="en-US" smtClean="0"/>
              <a:t>‹#›</a:t>
            </a:fld>
            <a:endParaRPr lang="en-US"/>
          </a:p>
        </p:txBody>
      </p:sp>
    </p:spTree>
    <p:extLst>
      <p:ext uri="{BB962C8B-B14F-4D97-AF65-F5344CB8AC3E}">
        <p14:creationId xmlns:p14="http://schemas.microsoft.com/office/powerpoint/2010/main" val="28713088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989BC-E427-4DE1-EF46-8E9019B7C26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23A9A71-A592-6B43-89C3-E7B5733CB7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CDBBE5-6985-6440-C2F3-A9F89E66216A}"/>
              </a:ext>
            </a:extLst>
          </p:cNvPr>
          <p:cNvSpPr>
            <a:spLocks noGrp="1"/>
          </p:cNvSpPr>
          <p:nvPr>
            <p:ph type="dt" sz="half" idx="10"/>
          </p:nvPr>
        </p:nvSpPr>
        <p:spPr/>
        <p:txBody>
          <a:bodyPr/>
          <a:lstStyle/>
          <a:p>
            <a:fld id="{C2D21159-2E4B-0E48-A24A-027C3D653434}" type="datetimeFigureOut">
              <a:rPr lang="en-US" smtClean="0"/>
              <a:t>8/29/26</a:t>
            </a:fld>
            <a:endParaRPr lang="en-US"/>
          </a:p>
        </p:txBody>
      </p:sp>
      <p:sp>
        <p:nvSpPr>
          <p:cNvPr id="5" name="Footer Placeholder 4">
            <a:extLst>
              <a:ext uri="{FF2B5EF4-FFF2-40B4-BE49-F238E27FC236}">
                <a16:creationId xmlns:a16="http://schemas.microsoft.com/office/drawing/2014/main" id="{8342912D-7508-63D2-B9C8-2372CDDF9C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39F614-98D7-4FD1-6BC9-299A4D804A8A}"/>
              </a:ext>
            </a:extLst>
          </p:cNvPr>
          <p:cNvSpPr>
            <a:spLocks noGrp="1"/>
          </p:cNvSpPr>
          <p:nvPr>
            <p:ph type="sldNum" sz="quarter" idx="12"/>
          </p:nvPr>
        </p:nvSpPr>
        <p:spPr/>
        <p:txBody>
          <a:bodyPr/>
          <a:lstStyle/>
          <a:p>
            <a:fld id="{0E646067-DA67-A947-8E64-C5194C9F5927}" type="slidenum">
              <a:rPr lang="en-US" smtClean="0"/>
              <a:t>‹#›</a:t>
            </a:fld>
            <a:endParaRPr lang="en-US"/>
          </a:p>
        </p:txBody>
      </p:sp>
    </p:spTree>
    <p:extLst>
      <p:ext uri="{BB962C8B-B14F-4D97-AF65-F5344CB8AC3E}">
        <p14:creationId xmlns:p14="http://schemas.microsoft.com/office/powerpoint/2010/main" val="123516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7C8577-BFF8-8EF5-3E82-8E5518179EB7}"/>
              </a:ext>
            </a:extLst>
          </p:cNvPr>
          <p:cNvSpPr>
            <a:spLocks noGrp="1"/>
          </p:cNvSpPr>
          <p:nvPr>
            <p:ph type="title" orient="vert"/>
          </p:nvPr>
        </p:nvSpPr>
        <p:spPr>
          <a:xfrm>
            <a:off x="9334500" y="312117"/>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AC5C4C-D989-10DC-4352-65EB582EDC40}"/>
              </a:ext>
            </a:extLst>
          </p:cNvPr>
          <p:cNvSpPr>
            <a:spLocks noGrp="1"/>
          </p:cNvSpPr>
          <p:nvPr>
            <p:ph type="body" orient="vert" idx="1"/>
          </p:nvPr>
        </p:nvSpPr>
        <p:spPr>
          <a:xfrm>
            <a:off x="1447800" y="312117"/>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4AE831-39FB-D01D-F97F-30EFF5B43C9E}"/>
              </a:ext>
            </a:extLst>
          </p:cNvPr>
          <p:cNvSpPr>
            <a:spLocks noGrp="1"/>
          </p:cNvSpPr>
          <p:nvPr>
            <p:ph type="dt" sz="half" idx="10"/>
          </p:nvPr>
        </p:nvSpPr>
        <p:spPr/>
        <p:txBody>
          <a:bodyPr/>
          <a:lstStyle/>
          <a:p>
            <a:fld id="{C2D21159-2E4B-0E48-A24A-027C3D653434}" type="datetimeFigureOut">
              <a:rPr lang="en-US" smtClean="0"/>
              <a:t>8/29/26</a:t>
            </a:fld>
            <a:endParaRPr lang="en-US"/>
          </a:p>
        </p:txBody>
      </p:sp>
      <p:sp>
        <p:nvSpPr>
          <p:cNvPr id="5" name="Footer Placeholder 4">
            <a:extLst>
              <a:ext uri="{FF2B5EF4-FFF2-40B4-BE49-F238E27FC236}">
                <a16:creationId xmlns:a16="http://schemas.microsoft.com/office/drawing/2014/main" id="{6EC24EE5-AB6B-589A-E1AA-29E56F1636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73B340-7506-2997-6834-5C737061E2D3}"/>
              </a:ext>
            </a:extLst>
          </p:cNvPr>
          <p:cNvSpPr>
            <a:spLocks noGrp="1"/>
          </p:cNvSpPr>
          <p:nvPr>
            <p:ph type="sldNum" sz="quarter" idx="12"/>
          </p:nvPr>
        </p:nvSpPr>
        <p:spPr/>
        <p:txBody>
          <a:bodyPr/>
          <a:lstStyle/>
          <a:p>
            <a:fld id="{0E646067-DA67-A947-8E64-C5194C9F5927}" type="slidenum">
              <a:rPr lang="en-US" smtClean="0"/>
              <a:t>‹#›</a:t>
            </a:fld>
            <a:endParaRPr lang="en-US"/>
          </a:p>
        </p:txBody>
      </p:sp>
    </p:spTree>
    <p:extLst>
      <p:ext uri="{BB962C8B-B14F-4D97-AF65-F5344CB8AC3E}">
        <p14:creationId xmlns:p14="http://schemas.microsoft.com/office/powerpoint/2010/main" val="345505158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5D8BA3-599C-1E6A-A949-7599A6AAF560}"/>
              </a:ext>
            </a:extLst>
          </p:cNvPr>
          <p:cNvSpPr>
            <a:spLocks noGrp="1"/>
          </p:cNvSpPr>
          <p:nvPr>
            <p:ph type="title"/>
          </p:nvPr>
        </p:nvSpPr>
        <p:spPr>
          <a:xfrm>
            <a:off x="1506330" y="351873"/>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E3C701F-1704-E047-B318-8A17172BB605}"/>
              </a:ext>
            </a:extLst>
          </p:cNvPr>
          <p:cNvSpPr>
            <a:spLocks noGrp="1"/>
          </p:cNvSpPr>
          <p:nvPr>
            <p:ph type="body" idx="1"/>
          </p:nvPr>
        </p:nvSpPr>
        <p:spPr>
          <a:xfrm>
            <a:off x="1506330" y="1812373"/>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095B62-B85B-6BE2-25E3-1E215D9A9A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2D21159-2E4B-0E48-A24A-027C3D653434}" type="datetimeFigureOut">
              <a:rPr lang="en-US" smtClean="0"/>
              <a:t>8/29/26</a:t>
            </a:fld>
            <a:endParaRPr lang="en-US"/>
          </a:p>
        </p:txBody>
      </p:sp>
      <p:sp>
        <p:nvSpPr>
          <p:cNvPr id="5" name="Footer Placeholder 4">
            <a:extLst>
              <a:ext uri="{FF2B5EF4-FFF2-40B4-BE49-F238E27FC236}">
                <a16:creationId xmlns:a16="http://schemas.microsoft.com/office/drawing/2014/main" id="{D973D202-ECE1-EEF1-106F-D583CB63A4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43FAFFE-4A84-64A8-3D6A-D32F9A30D7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E646067-DA67-A947-8E64-C5194C9F5927}" type="slidenum">
              <a:rPr lang="en-US" smtClean="0"/>
              <a:t>‹#›</a:t>
            </a:fld>
            <a:endParaRPr lang="en-US"/>
          </a:p>
        </p:txBody>
      </p:sp>
      <p:pic>
        <p:nvPicPr>
          <p:cNvPr id="7" name="Picture 6">
            <a:extLst>
              <a:ext uri="{FF2B5EF4-FFF2-40B4-BE49-F238E27FC236}">
                <a16:creationId xmlns:a16="http://schemas.microsoft.com/office/drawing/2014/main" id="{086D89E0-1BE2-343F-A45E-17E555D05C96}"/>
              </a:ext>
            </a:extLst>
          </p:cNvPr>
          <p:cNvPicPr>
            <a:picLocks noChangeAspect="1"/>
          </p:cNvPicPr>
          <p:nvPr userDrawn="1"/>
        </p:nvPicPr>
        <p:blipFill>
          <a:blip r:embed="rId13"/>
          <a:stretch>
            <a:fillRect/>
          </a:stretch>
        </p:blipFill>
        <p:spPr>
          <a:xfrm>
            <a:off x="170070" y="136525"/>
            <a:ext cx="1097100" cy="645353"/>
          </a:xfrm>
          <a:prstGeom prst="rect">
            <a:avLst/>
          </a:prstGeom>
        </p:spPr>
      </p:pic>
    </p:spTree>
    <p:extLst>
      <p:ext uri="{BB962C8B-B14F-4D97-AF65-F5344CB8AC3E}">
        <p14:creationId xmlns:p14="http://schemas.microsoft.com/office/powerpoint/2010/main" val="34051874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87168" y="658368"/>
            <a:ext cx="8778240" cy="256032"/>
          </a:xfrm>
          <a:prstGeom prst="rect">
            <a:avLst/>
          </a:prstGeom>
          <a:noFill/>
        </p:spPr>
        <p:txBody>
          <a:bodyPr wrap="square" lIns="0" rIns="0" tIns="0" bIns="0">
            <a:spAutoFit/>
          </a:bodyPr>
          <a:lstStyle/>
          <a:p>
            <a:pPr algn="l">
              <a:lnSpc>
                <a:spcPct val="112000"/>
              </a:lnSpc>
              <a:spcAft>
                <a:spcPts val="900"/>
              </a:spcAft>
              <a:defRPr sz="1100" b="1">
                <a:solidFill>
                  <a:srgbClr val="FFFFFF"/>
                </a:solidFill>
                <a:latin typeface="Arial"/>
              </a:defRPr>
              <a:buNone/>
            </a:pPr>
            <a:r>
              <a:t>ICAST-ES 2026  /  PAPER #1571327482</a:t>
            </a:r>
          </a:p>
        </p:txBody>
      </p:sp>
      <p:sp>
        <p:nvSpPr>
          <p:cNvPr id="3" name="TextBox 2"/>
          <p:cNvSpPr txBox="1"/>
          <p:nvPr/>
        </p:nvSpPr>
        <p:spPr>
          <a:xfrm>
            <a:off x="2487168" y="1325880"/>
            <a:ext cx="8869680" cy="1463040"/>
          </a:xfrm>
          <a:prstGeom prst="rect">
            <a:avLst/>
          </a:prstGeom>
          <a:noFill/>
        </p:spPr>
        <p:txBody>
          <a:bodyPr wrap="square" lIns="0" rIns="0" tIns="0" bIns="0">
            <a:spAutoFit/>
          </a:bodyPr>
          <a:lstStyle/>
          <a:p>
            <a:pPr algn="l">
              <a:lnSpc>
                <a:spcPct val="112000"/>
              </a:lnSpc>
              <a:spcAft>
                <a:spcPts val="900"/>
              </a:spcAft>
              <a:defRPr sz="4400" b="1">
                <a:solidFill>
                  <a:srgbClr val="FFFFFF"/>
                </a:solidFill>
                <a:latin typeface="Arial"/>
              </a:defRPr>
              <a:buNone/>
            </a:pPr>
            <a:r>
              <a:t>Compile once.</a:t>
            </a:r>
          </a:p>
          <a:p>
            <a:pPr algn="l">
              <a:lnSpc>
                <a:spcPct val="112000"/>
              </a:lnSpc>
              <a:spcAft>
                <a:spcPts val="900"/>
              </a:spcAft>
              <a:defRPr sz="4400" b="1">
                <a:solidFill>
                  <a:srgbClr val="FFFFFF"/>
                </a:solidFill>
                <a:latin typeface="Arial"/>
              </a:defRPr>
              <a:buNone/>
            </a:pPr>
            <a:r>
              <a:t>Read the current fact.</a:t>
            </a:r>
          </a:p>
        </p:txBody>
      </p:sp>
      <p:sp>
        <p:nvSpPr>
          <p:cNvPr id="4" name="TextBox 3"/>
          <p:cNvSpPr txBox="1"/>
          <p:nvPr/>
        </p:nvSpPr>
        <p:spPr>
          <a:xfrm>
            <a:off x="2487168" y="3127248"/>
            <a:ext cx="8823960" cy="1069848"/>
          </a:xfrm>
          <a:prstGeom prst="rect">
            <a:avLst/>
          </a:prstGeom>
          <a:noFill/>
        </p:spPr>
        <p:txBody>
          <a:bodyPr wrap="square" lIns="0" rIns="0" tIns="0" bIns="0">
            <a:spAutoFit/>
          </a:bodyPr>
          <a:lstStyle/>
          <a:p>
            <a:pPr algn="l">
              <a:lnSpc>
                <a:spcPct val="112000"/>
              </a:lnSpc>
              <a:spcAft>
                <a:spcPts val="900"/>
              </a:spcAft>
              <a:defRPr sz="2300" b="0">
                <a:solidFill>
                  <a:srgbClr val="FFFFFF"/>
                </a:solidFill>
                <a:latin typeface="Arial"/>
              </a:defRPr>
              <a:buNone/>
            </a:pPr>
            <a:r>
              <a:t>Ingest-Time Fact Compilation for Cost-Efficient and Reliable Question Answering over Revised Corpora</a:t>
            </a:r>
          </a:p>
        </p:txBody>
      </p:sp>
      <p:sp>
        <p:nvSpPr>
          <p:cNvPr id="5" name="TextBox 4"/>
          <p:cNvSpPr txBox="1"/>
          <p:nvPr/>
        </p:nvSpPr>
        <p:spPr>
          <a:xfrm>
            <a:off x="2487168" y="4526280"/>
            <a:ext cx="8823960" cy="411480"/>
          </a:xfrm>
          <a:prstGeom prst="rect">
            <a:avLst/>
          </a:prstGeom>
          <a:noFill/>
        </p:spPr>
        <p:txBody>
          <a:bodyPr wrap="square" lIns="0" rIns="0" tIns="0" bIns="0">
            <a:spAutoFit/>
          </a:bodyPr>
          <a:lstStyle/>
          <a:p>
            <a:pPr algn="l">
              <a:lnSpc>
                <a:spcPct val="112000"/>
              </a:lnSpc>
              <a:spcAft>
                <a:spcPts val="900"/>
              </a:spcAft>
              <a:defRPr sz="2200" b="0">
                <a:solidFill>
                  <a:srgbClr val="FFFFFF"/>
                </a:solidFill>
                <a:latin typeface="Arial"/>
              </a:defRPr>
              <a:buNone/>
            </a:pPr>
            <a:r>
              <a:t>Kyle Wild · Yusuke Takahashi · Asako Uraki</a:t>
            </a:r>
          </a:p>
        </p:txBody>
      </p:sp>
      <p:sp>
        <p:nvSpPr>
          <p:cNvPr id="6" name="TextBox 5"/>
          <p:cNvSpPr txBox="1"/>
          <p:nvPr/>
        </p:nvSpPr>
        <p:spPr>
          <a:xfrm>
            <a:off x="2487168" y="5230368"/>
            <a:ext cx="8823960" cy="786384"/>
          </a:xfrm>
          <a:prstGeom prst="rect">
            <a:avLst/>
          </a:prstGeom>
          <a:noFill/>
        </p:spPr>
        <p:txBody>
          <a:bodyPr wrap="square" lIns="0" rIns="0" tIns="0" bIns="0">
            <a:spAutoFit/>
          </a:bodyPr>
          <a:lstStyle/>
          <a:p>
            <a:pPr algn="l">
              <a:lnSpc>
                <a:spcPct val="112000"/>
              </a:lnSpc>
              <a:spcAft>
                <a:spcPts val="900"/>
              </a:spcAft>
              <a:defRPr sz="1500" b="0">
                <a:solidFill>
                  <a:srgbClr val="FFFFFF"/>
                </a:solidFill>
                <a:latin typeface="Arial"/>
              </a:defRPr>
              <a:buNone/>
            </a:pPr>
            <a:r>
              <a:t>Kyle: Endgame Labs, Inc. · Asia AI Institute</a:t>
            </a:r>
          </a:p>
          <a:p>
            <a:pPr algn="l">
              <a:lnSpc>
                <a:spcPct val="112000"/>
              </a:lnSpc>
              <a:spcAft>
                <a:spcPts val="900"/>
              </a:spcAft>
              <a:defRPr sz="1500" b="0">
                <a:solidFill>
                  <a:srgbClr val="FFFFFF"/>
                </a:solidFill>
                <a:latin typeface="Arial"/>
              </a:defRPr>
              <a:buNone/>
            </a:pPr>
            <a:r>
              <a:t>Takahashi &amp; Uraki: Asia AI Institute, Faculty of Data Science, Musashino University</a:t>
            </a:r>
          </a:p>
        </p:txBody>
      </p:sp>
    </p:spTree>
    <p:extLst>
      <p:ext uri="{BB962C8B-B14F-4D97-AF65-F5344CB8AC3E}">
        <p14:creationId xmlns:p14="http://schemas.microsoft.com/office/powerpoint/2010/main" val="3181418065"/>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329184"/>
            <a:ext cx="10058400"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START WITH ONE SENTENCE</a:t>
            </a:r>
          </a:p>
        </p:txBody>
      </p:sp>
      <p:sp>
        <p:nvSpPr>
          <p:cNvPr id="3" name="TextBox 2"/>
          <p:cNvSpPr txBox="1"/>
          <p:nvPr/>
        </p:nvSpPr>
        <p:spPr>
          <a:xfrm>
            <a:off x="1463040" y="758952"/>
            <a:ext cx="10058400" cy="932688"/>
          </a:xfrm>
          <a:prstGeom prst="rect">
            <a:avLst/>
          </a:prstGeom>
          <a:noFill/>
        </p:spPr>
        <p:txBody>
          <a:bodyPr wrap="square" lIns="0" rIns="0" tIns="0" bIns="0">
            <a:spAutoFit/>
          </a:bodyPr>
          <a:lstStyle/>
          <a:p>
            <a:pPr algn="l">
              <a:lnSpc>
                <a:spcPct val="112000"/>
              </a:lnSpc>
              <a:spcAft>
                <a:spcPts val="900"/>
              </a:spcAft>
              <a:defRPr sz="3200" b="1">
                <a:solidFill>
                  <a:srgbClr val="1C4072"/>
                </a:solidFill>
                <a:latin typeface="Arial"/>
              </a:defRPr>
              <a:buNone/>
            </a:pPr>
            <a:r>
              <a:t>What does “it” mean when the passage is gone?</a:t>
            </a:r>
          </a:p>
        </p:txBody>
      </p:sp>
      <p:sp>
        <p:nvSpPr>
          <p:cNvPr id="4" name="Rectangle 3"/>
          <p:cNvSpPr/>
          <p:nvPr/>
        </p:nvSpPr>
        <p:spPr>
          <a:xfrm>
            <a:off x="1463040" y="6373368"/>
            <a:ext cx="10058400" cy="22860"/>
          </a:xfrm>
          <a:prstGeom prst="rect">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6492240"/>
            <a:ext cx="9509760" cy="182880"/>
          </a:xfrm>
          <a:prstGeom prst="rect">
            <a:avLst/>
          </a:prstGeom>
          <a:noFill/>
        </p:spPr>
        <p:txBody>
          <a:bodyPr wrap="square" lIns="0" rIns="0" tIns="0" bIns="0">
            <a:spAutoFit/>
          </a:bodyPr>
          <a:lstStyle/>
          <a:p>
            <a:pPr algn="l">
              <a:lnSpc>
                <a:spcPct val="112000"/>
              </a:lnSpc>
              <a:spcAft>
                <a:spcPts val="900"/>
              </a:spcAft>
              <a:defRPr sz="900" b="0">
                <a:solidFill>
                  <a:srgbClr val="536378"/>
                </a:solidFill>
                <a:latin typeface="Arial"/>
              </a:defRPr>
              <a:buNone/>
            </a:pPr>
            <a:r>
              <a:t>S2 frozen run · FOMC, 29 Apr 2026 · passage fed_dialogue:20260429:17 · excerpts</a:t>
            </a:r>
          </a:p>
        </p:txBody>
      </p:sp>
      <p:sp>
        <p:nvSpPr>
          <p:cNvPr id="6" name="TextBox 5"/>
          <p:cNvSpPr txBox="1"/>
          <p:nvPr/>
        </p:nvSpPr>
        <p:spPr>
          <a:xfrm>
            <a:off x="10972800" y="6492240"/>
            <a:ext cx="548640" cy="182880"/>
          </a:xfrm>
          <a:prstGeom prst="rect">
            <a:avLst/>
          </a:prstGeom>
          <a:noFill/>
        </p:spPr>
        <p:txBody>
          <a:bodyPr wrap="square" lIns="0" rIns="0" tIns="0" bIns="0">
            <a:spAutoFit/>
          </a:bodyPr>
          <a:lstStyle/>
          <a:p>
            <a:pPr algn="r">
              <a:lnSpc>
                <a:spcPct val="112000"/>
              </a:lnSpc>
              <a:spcAft>
                <a:spcPts val="900"/>
              </a:spcAft>
              <a:defRPr sz="1000" b="0">
                <a:solidFill>
                  <a:srgbClr val="536378"/>
                </a:solidFill>
                <a:latin typeface="Arial"/>
              </a:defRPr>
              <a:buNone/>
            </a:pPr>
            <a:r>
              <a:t>2</a:t>
            </a:r>
          </a:p>
        </p:txBody>
      </p:sp>
      <p:sp>
        <p:nvSpPr>
          <p:cNvPr id="7" name="TextBox 6"/>
          <p:cNvSpPr txBox="1"/>
          <p:nvPr/>
        </p:nvSpPr>
        <p:spPr>
          <a:xfrm>
            <a:off x="1463040" y="1810512"/>
            <a:ext cx="10058400" cy="457200"/>
          </a:xfrm>
          <a:prstGeom prst="rect">
            <a:avLst/>
          </a:prstGeom>
          <a:noFill/>
        </p:spPr>
        <p:txBody>
          <a:bodyPr wrap="square" lIns="0" rIns="0" tIns="0" bIns="0">
            <a:spAutoFit/>
          </a:bodyPr>
          <a:lstStyle/>
          <a:p>
            <a:pPr algn="l">
              <a:lnSpc>
                <a:spcPct val="112000"/>
              </a:lnSpc>
              <a:spcAft>
                <a:spcPts val="900"/>
              </a:spcAft>
              <a:defRPr sz="2000" b="0">
                <a:solidFill>
                  <a:srgbClr val="536378"/>
                </a:solidFill>
                <a:latin typeface="Arial"/>
              </a:defRPr>
              <a:buNone/>
            </a:pPr>
            <a:r>
              <a:t>Question in the source: “Do you think that we are at the neutral rate?”</a:t>
            </a:r>
          </a:p>
        </p:txBody>
      </p:sp>
      <p:sp>
        <p:nvSpPr>
          <p:cNvPr id="8" name="Rectangle 7"/>
          <p:cNvSpPr/>
          <p:nvPr/>
        </p:nvSpPr>
        <p:spPr>
          <a:xfrm>
            <a:off x="1463040" y="2468880"/>
            <a:ext cx="4663440" cy="2560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4208" y="2633472"/>
            <a:ext cx="4261103"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BEFORE  /  CHAIR POWELL</a:t>
            </a:r>
          </a:p>
        </p:txBody>
      </p:sp>
      <p:sp>
        <p:nvSpPr>
          <p:cNvPr id="10" name="TextBox 9"/>
          <p:cNvSpPr txBox="1"/>
          <p:nvPr/>
        </p:nvSpPr>
        <p:spPr>
          <a:xfrm>
            <a:off x="1664208" y="3108960"/>
            <a:ext cx="4261103" cy="1783079"/>
          </a:xfrm>
          <a:prstGeom prst="rect">
            <a:avLst/>
          </a:prstGeom>
          <a:noFill/>
        </p:spPr>
        <p:txBody>
          <a:bodyPr wrap="square" lIns="0" rIns="0" tIns="0" bIns="0">
            <a:spAutoFit/>
          </a:bodyPr>
          <a:lstStyle/>
          <a:p>
            <a:pPr algn="l">
              <a:lnSpc>
                <a:spcPct val="112000"/>
              </a:lnSpc>
              <a:spcAft>
                <a:spcPts val="900"/>
              </a:spcAft>
              <a:defRPr sz="2900" b="0">
                <a:solidFill>
                  <a:srgbClr val="202B3B"/>
                </a:solidFill>
                <a:latin typeface="Arial"/>
              </a:defRPr>
              <a:buNone/>
            </a:pPr>
            <a:r>
              <a:t>“I always had it, you know, between 3 and 4 percent.”</a:t>
            </a:r>
          </a:p>
        </p:txBody>
      </p:sp>
      <p:sp>
        <p:nvSpPr>
          <p:cNvPr id="11" name="TextBox 10"/>
          <p:cNvSpPr txBox="1"/>
          <p:nvPr/>
        </p:nvSpPr>
        <p:spPr>
          <a:xfrm>
            <a:off x="6217920" y="3291840"/>
            <a:ext cx="411480" cy="457200"/>
          </a:xfrm>
          <a:prstGeom prst="rect">
            <a:avLst/>
          </a:prstGeom>
          <a:noFill/>
        </p:spPr>
        <p:txBody>
          <a:bodyPr wrap="square" lIns="0" rIns="0" tIns="0" bIns="0">
            <a:spAutoFit/>
          </a:bodyPr>
          <a:lstStyle/>
          <a:p>
            <a:pPr algn="l">
              <a:lnSpc>
                <a:spcPct val="112000"/>
              </a:lnSpc>
              <a:spcAft>
                <a:spcPts val="900"/>
              </a:spcAft>
              <a:defRPr sz="3000" b="1">
                <a:solidFill>
                  <a:srgbClr val="1C4072"/>
                </a:solidFill>
                <a:latin typeface="Arial"/>
              </a:defRPr>
              <a:buNone/>
            </a:pPr>
            <a:r>
              <a:t>→</a:t>
            </a:r>
          </a:p>
        </p:txBody>
      </p:sp>
      <p:sp>
        <p:nvSpPr>
          <p:cNvPr id="12" name="Rectangle 11"/>
          <p:cNvSpPr/>
          <p:nvPr/>
        </p:nvSpPr>
        <p:spPr>
          <a:xfrm>
            <a:off x="6766560" y="2468880"/>
            <a:ext cx="4754880" cy="2560320"/>
          </a:xfrm>
          <a:prstGeom prst="rect">
            <a:avLst/>
          </a:prstGeom>
          <a:solidFill>
            <a:srgbClr val="E9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67728" y="2633472"/>
            <a:ext cx="4352544"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AFTER  /  ACTUAL GENERATED FACT</a:t>
            </a:r>
          </a:p>
        </p:txBody>
      </p:sp>
      <p:sp>
        <p:nvSpPr>
          <p:cNvPr id="14" name="TextBox 13"/>
          <p:cNvSpPr txBox="1"/>
          <p:nvPr/>
        </p:nvSpPr>
        <p:spPr>
          <a:xfrm>
            <a:off x="6967728" y="3108960"/>
            <a:ext cx="4352544" cy="1783079"/>
          </a:xfrm>
          <a:prstGeom prst="rect">
            <a:avLst/>
          </a:prstGeom>
          <a:noFill/>
        </p:spPr>
        <p:txBody>
          <a:bodyPr wrap="square" lIns="0" rIns="0" tIns="0" bIns="0">
            <a:spAutoFit/>
          </a:bodyPr>
          <a:lstStyle/>
          <a:p>
            <a:pPr algn="l">
              <a:lnSpc>
                <a:spcPct val="112000"/>
              </a:lnSpc>
              <a:spcAft>
                <a:spcPts val="900"/>
              </a:spcAft>
              <a:defRPr sz="2500" b="0">
                <a:solidFill>
                  <a:srgbClr val="202B3B"/>
                </a:solidFill>
                <a:latin typeface="Arial"/>
              </a:defRPr>
              <a:buNone/>
            </a:pPr>
            <a:r>
              <a:t>Chair Powell stated that his personal estimate of the neutral rate is between 3 and 4 percent.</a:t>
            </a:r>
          </a:p>
        </p:txBody>
      </p:sp>
      <p:sp>
        <p:nvSpPr>
          <p:cNvPr id="15" name="TextBox 14"/>
          <p:cNvSpPr txBox="1"/>
          <p:nvPr/>
        </p:nvSpPr>
        <p:spPr>
          <a:xfrm>
            <a:off x="1463040" y="5257800"/>
            <a:ext cx="10058400" cy="676656"/>
          </a:xfrm>
          <a:prstGeom prst="rect">
            <a:avLst/>
          </a:prstGeom>
          <a:noFill/>
        </p:spPr>
        <p:txBody>
          <a:bodyPr wrap="square" lIns="0" rIns="0" tIns="0" bIns="0">
            <a:spAutoFit/>
          </a:bodyPr>
          <a:lstStyle/>
          <a:p>
            <a:pPr algn="l">
              <a:lnSpc>
                <a:spcPct val="112000"/>
              </a:lnSpc>
              <a:spcAft>
                <a:spcPts val="900"/>
              </a:spcAft>
              <a:defRPr sz="2500" b="1">
                <a:solidFill>
                  <a:srgbClr val="1C4072"/>
                </a:solidFill>
                <a:latin typeface="Arial"/>
              </a:defRPr>
              <a:buNone/>
            </a:pPr>
            <a:r>
              <a:t>“I” becomes a named speaker. “It” becomes a named concept.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329184"/>
            <a:ext cx="10058400"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WHAT WE STORE</a:t>
            </a:r>
          </a:p>
        </p:txBody>
      </p:sp>
      <p:sp>
        <p:nvSpPr>
          <p:cNvPr id="3" name="TextBox 2"/>
          <p:cNvSpPr txBox="1"/>
          <p:nvPr/>
        </p:nvSpPr>
        <p:spPr>
          <a:xfrm>
            <a:off x="1463040" y="758952"/>
            <a:ext cx="10058400" cy="932688"/>
          </a:xfrm>
          <a:prstGeom prst="rect">
            <a:avLst/>
          </a:prstGeom>
          <a:noFill/>
        </p:spPr>
        <p:txBody>
          <a:bodyPr wrap="square" lIns="0" rIns="0" tIns="0" bIns="0">
            <a:spAutoFit/>
          </a:bodyPr>
          <a:lstStyle/>
          <a:p>
            <a:pPr algn="l">
              <a:lnSpc>
                <a:spcPct val="112000"/>
              </a:lnSpc>
              <a:spcAft>
                <a:spcPts val="900"/>
              </a:spcAft>
              <a:defRPr sz="3200" b="1">
                <a:solidFill>
                  <a:srgbClr val="1C4072"/>
                </a:solidFill>
                <a:latin typeface="Arial"/>
              </a:defRPr>
              <a:buNone/>
            </a:pPr>
            <a:r>
              <a:t>A fact is a portable, source-grounded claim.</a:t>
            </a:r>
          </a:p>
        </p:txBody>
      </p:sp>
      <p:sp>
        <p:nvSpPr>
          <p:cNvPr id="4" name="Rectangle 3"/>
          <p:cNvSpPr/>
          <p:nvPr/>
        </p:nvSpPr>
        <p:spPr>
          <a:xfrm>
            <a:off x="1463040" y="6373368"/>
            <a:ext cx="10058400" cy="22860"/>
          </a:xfrm>
          <a:prstGeom prst="rect">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6492240"/>
            <a:ext cx="9509760" cy="182880"/>
          </a:xfrm>
          <a:prstGeom prst="rect">
            <a:avLst/>
          </a:prstGeom>
          <a:noFill/>
        </p:spPr>
        <p:txBody>
          <a:bodyPr wrap="square" lIns="0" rIns="0" tIns="0" bIns="0">
            <a:spAutoFit/>
          </a:bodyPr>
          <a:lstStyle/>
          <a:p>
            <a:pPr algn="l">
              <a:lnSpc>
                <a:spcPct val="112000"/>
              </a:lnSpc>
              <a:spcAft>
                <a:spcPts val="900"/>
              </a:spcAft>
              <a:defRPr sz="900" b="0">
                <a:solidFill>
                  <a:srgbClr val="536378"/>
                </a:solidFill>
                <a:latin typeface="Arial"/>
              </a:defRPr>
              <a:buNone/>
            </a:pPr>
            <a:r>
              <a:t>Definition: paper Method §III · claim example: S2 passage 17 · source association retained in frozen record</a:t>
            </a:r>
          </a:p>
        </p:txBody>
      </p:sp>
      <p:sp>
        <p:nvSpPr>
          <p:cNvPr id="6" name="TextBox 5"/>
          <p:cNvSpPr txBox="1"/>
          <p:nvPr/>
        </p:nvSpPr>
        <p:spPr>
          <a:xfrm>
            <a:off x="10972800" y="6492240"/>
            <a:ext cx="548640" cy="182880"/>
          </a:xfrm>
          <a:prstGeom prst="rect">
            <a:avLst/>
          </a:prstGeom>
          <a:noFill/>
        </p:spPr>
        <p:txBody>
          <a:bodyPr wrap="square" lIns="0" rIns="0" tIns="0" bIns="0">
            <a:spAutoFit/>
          </a:bodyPr>
          <a:lstStyle/>
          <a:p>
            <a:pPr algn="r">
              <a:lnSpc>
                <a:spcPct val="112000"/>
              </a:lnSpc>
              <a:spcAft>
                <a:spcPts val="900"/>
              </a:spcAft>
              <a:defRPr sz="1000" b="0">
                <a:solidFill>
                  <a:srgbClr val="536378"/>
                </a:solidFill>
                <a:latin typeface="Arial"/>
              </a:defRPr>
              <a:buNone/>
            </a:pPr>
            <a:r>
              <a:t>3</a:t>
            </a:r>
          </a:p>
        </p:txBody>
      </p:sp>
      <p:sp>
        <p:nvSpPr>
          <p:cNvPr id="7" name="Rectangle 6"/>
          <p:cNvSpPr/>
          <p:nvPr/>
        </p:nvSpPr>
        <p:spPr>
          <a:xfrm>
            <a:off x="1463040" y="1828800"/>
            <a:ext cx="10058400" cy="2103120"/>
          </a:xfrm>
          <a:prstGeom prst="rect">
            <a:avLst/>
          </a:prstGeom>
          <a:solidFill>
            <a:srgbClr val="E9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37360" y="2011680"/>
            <a:ext cx="9509760"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ONE CLAIM YOU CAN RETRIEVE ON ITS OWN</a:t>
            </a:r>
          </a:p>
        </p:txBody>
      </p:sp>
      <p:sp>
        <p:nvSpPr>
          <p:cNvPr id="9" name="TextBox 8"/>
          <p:cNvSpPr txBox="1"/>
          <p:nvPr/>
        </p:nvSpPr>
        <p:spPr>
          <a:xfrm>
            <a:off x="1737360" y="2487168"/>
            <a:ext cx="9509760" cy="1143000"/>
          </a:xfrm>
          <a:prstGeom prst="rect">
            <a:avLst/>
          </a:prstGeom>
          <a:noFill/>
        </p:spPr>
        <p:txBody>
          <a:bodyPr wrap="square" lIns="0" rIns="0" tIns="0" bIns="0">
            <a:spAutoFit/>
          </a:bodyPr>
          <a:lstStyle/>
          <a:p>
            <a:pPr algn="l">
              <a:lnSpc>
                <a:spcPct val="112000"/>
              </a:lnSpc>
              <a:spcAft>
                <a:spcPts val="900"/>
              </a:spcAft>
              <a:defRPr sz="2900" b="1">
                <a:solidFill>
                  <a:srgbClr val="1C4072"/>
                </a:solidFill>
                <a:latin typeface="Arial"/>
              </a:defRPr>
              <a:buNone/>
            </a:pPr>
            <a:r>
              <a:t>Chair Powell stated that his personal estimate</a:t>
            </a:r>
          </a:p>
          <a:p>
            <a:pPr algn="l">
              <a:lnSpc>
                <a:spcPct val="112000"/>
              </a:lnSpc>
              <a:spcAft>
                <a:spcPts val="900"/>
              </a:spcAft>
              <a:defRPr sz="2900" b="1">
                <a:solidFill>
                  <a:srgbClr val="1C4072"/>
                </a:solidFill>
                <a:latin typeface="Arial"/>
              </a:defRPr>
              <a:buNone/>
            </a:pPr>
            <a:r>
              <a:t>of the neutral rate is between 3 and 4 percent.</a:t>
            </a:r>
          </a:p>
        </p:txBody>
      </p:sp>
      <p:sp>
        <p:nvSpPr>
          <p:cNvPr id="10" name="TextBox 9"/>
          <p:cNvSpPr txBox="1"/>
          <p:nvPr/>
        </p:nvSpPr>
        <p:spPr>
          <a:xfrm>
            <a:off x="1463040" y="4297680"/>
            <a:ext cx="3154680"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ATTRIBUTION</a:t>
            </a:r>
          </a:p>
        </p:txBody>
      </p:sp>
      <p:sp>
        <p:nvSpPr>
          <p:cNvPr id="11" name="TextBox 10"/>
          <p:cNvSpPr txBox="1"/>
          <p:nvPr/>
        </p:nvSpPr>
        <p:spPr>
          <a:xfrm>
            <a:off x="1463040" y="4663440"/>
            <a:ext cx="3154680" cy="594360"/>
          </a:xfrm>
          <a:prstGeom prst="rect">
            <a:avLst/>
          </a:prstGeom>
          <a:noFill/>
        </p:spPr>
        <p:txBody>
          <a:bodyPr wrap="square" lIns="0" rIns="0" tIns="0" bIns="0">
            <a:spAutoFit/>
          </a:bodyPr>
          <a:lstStyle/>
          <a:p>
            <a:pPr algn="l">
              <a:lnSpc>
                <a:spcPct val="112000"/>
              </a:lnSpc>
              <a:spcAft>
                <a:spcPts val="900"/>
              </a:spcAft>
              <a:defRPr sz="2200" b="0">
                <a:solidFill>
                  <a:srgbClr val="202B3B"/>
                </a:solidFill>
                <a:latin typeface="Arial"/>
              </a:defRPr>
              <a:buNone/>
            </a:pPr>
            <a:r>
              <a:t>Powell’s estimate</a:t>
            </a:r>
          </a:p>
        </p:txBody>
      </p:sp>
      <p:sp>
        <p:nvSpPr>
          <p:cNvPr id="12" name="TextBox 11"/>
          <p:cNvSpPr txBox="1"/>
          <p:nvPr/>
        </p:nvSpPr>
        <p:spPr>
          <a:xfrm>
            <a:off x="4892040" y="4297680"/>
            <a:ext cx="3200400"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CONTENT</a:t>
            </a:r>
          </a:p>
        </p:txBody>
      </p:sp>
      <p:sp>
        <p:nvSpPr>
          <p:cNvPr id="13" name="TextBox 12"/>
          <p:cNvSpPr txBox="1"/>
          <p:nvPr/>
        </p:nvSpPr>
        <p:spPr>
          <a:xfrm>
            <a:off x="4892040" y="4663440"/>
            <a:ext cx="3200400" cy="594360"/>
          </a:xfrm>
          <a:prstGeom prst="rect">
            <a:avLst/>
          </a:prstGeom>
          <a:noFill/>
        </p:spPr>
        <p:txBody>
          <a:bodyPr wrap="square" lIns="0" rIns="0" tIns="0" bIns="0">
            <a:spAutoFit/>
          </a:bodyPr>
          <a:lstStyle/>
          <a:p>
            <a:pPr algn="l">
              <a:lnSpc>
                <a:spcPct val="112000"/>
              </a:lnSpc>
              <a:spcAft>
                <a:spcPts val="900"/>
              </a:spcAft>
              <a:defRPr sz="2200" b="0">
                <a:solidFill>
                  <a:srgbClr val="202B3B"/>
                </a:solidFill>
                <a:latin typeface="Arial"/>
              </a:defRPr>
              <a:buNone/>
            </a:pPr>
            <a:r>
              <a:t>Neutral rate: 3–4%</a:t>
            </a:r>
          </a:p>
        </p:txBody>
      </p:sp>
      <p:sp>
        <p:nvSpPr>
          <p:cNvPr id="14" name="TextBox 13"/>
          <p:cNvSpPr txBox="1"/>
          <p:nvPr/>
        </p:nvSpPr>
        <p:spPr>
          <a:xfrm>
            <a:off x="8339327" y="4297680"/>
            <a:ext cx="3182112"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SOURCE</a:t>
            </a:r>
          </a:p>
        </p:txBody>
      </p:sp>
      <p:sp>
        <p:nvSpPr>
          <p:cNvPr id="15" name="TextBox 14"/>
          <p:cNvSpPr txBox="1"/>
          <p:nvPr/>
        </p:nvSpPr>
        <p:spPr>
          <a:xfrm>
            <a:off x="8339327" y="4663440"/>
            <a:ext cx="3182112" cy="594360"/>
          </a:xfrm>
          <a:prstGeom prst="rect">
            <a:avLst/>
          </a:prstGeom>
          <a:noFill/>
        </p:spPr>
        <p:txBody>
          <a:bodyPr wrap="square" lIns="0" rIns="0" tIns="0" bIns="0">
            <a:spAutoFit/>
          </a:bodyPr>
          <a:lstStyle/>
          <a:p>
            <a:pPr algn="l">
              <a:lnSpc>
                <a:spcPct val="112000"/>
              </a:lnSpc>
              <a:spcAft>
                <a:spcPts val="900"/>
              </a:spcAft>
              <a:defRPr sz="2200" b="0">
                <a:solidFill>
                  <a:srgbClr val="202B3B"/>
                </a:solidFill>
                <a:latin typeface="Arial"/>
              </a:defRPr>
              <a:buNone/>
            </a:pPr>
            <a:r>
              <a:t>FOMC · 29 Apr 2026</a:t>
            </a:r>
          </a:p>
        </p:txBody>
      </p:sp>
      <p:sp>
        <p:nvSpPr>
          <p:cNvPr id="16" name="Rectangle 15"/>
          <p:cNvSpPr/>
          <p:nvPr/>
        </p:nvSpPr>
        <p:spPr>
          <a:xfrm>
            <a:off x="1463040" y="5431536"/>
            <a:ext cx="10058400" cy="22860"/>
          </a:xfrm>
          <a:prstGeom prst="rect">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63040" y="5614416"/>
            <a:ext cx="10058400" cy="502920"/>
          </a:xfrm>
          <a:prstGeom prst="rect">
            <a:avLst/>
          </a:prstGeom>
          <a:noFill/>
        </p:spPr>
        <p:txBody>
          <a:bodyPr wrap="square" lIns="0" rIns="0" tIns="0" bIns="0">
            <a:spAutoFit/>
          </a:bodyPr>
          <a:lstStyle/>
          <a:p>
            <a:pPr algn="l">
              <a:lnSpc>
                <a:spcPct val="112000"/>
              </a:lnSpc>
              <a:spcAft>
                <a:spcPts val="900"/>
              </a:spcAft>
              <a:defRPr sz="2000" b="0">
                <a:solidFill>
                  <a:srgbClr val="536378"/>
                </a:solidFill>
                <a:latin typeface="Arial"/>
              </a:defRPr>
              <a:buNone/>
            </a:pPr>
            <a:r>
              <a:t>Another extracted claim: “the neutral rate cannot be known with certainty.”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329184"/>
            <a:ext cx="10058400"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WHEN THE SOURCE CHANGES</a:t>
            </a:r>
          </a:p>
        </p:txBody>
      </p:sp>
      <p:sp>
        <p:nvSpPr>
          <p:cNvPr id="3" name="TextBox 2"/>
          <p:cNvSpPr txBox="1"/>
          <p:nvPr/>
        </p:nvSpPr>
        <p:spPr>
          <a:xfrm>
            <a:off x="1463040" y="758952"/>
            <a:ext cx="10058400" cy="932688"/>
          </a:xfrm>
          <a:prstGeom prst="rect">
            <a:avLst/>
          </a:prstGeom>
          <a:noFill/>
        </p:spPr>
        <p:txBody>
          <a:bodyPr wrap="square" lIns="0" rIns="0" tIns="0" bIns="0">
            <a:spAutoFit/>
          </a:bodyPr>
          <a:lstStyle/>
          <a:p>
            <a:pPr algn="l">
              <a:lnSpc>
                <a:spcPct val="112000"/>
              </a:lnSpc>
              <a:spcAft>
                <a:spcPts val="900"/>
              </a:spcAft>
              <a:defRPr sz="3200" b="1">
                <a:solidFill>
                  <a:srgbClr val="1C4072"/>
                </a:solidFill>
                <a:latin typeface="Arial"/>
              </a:defRPr>
              <a:buNone/>
            </a:pPr>
            <a:r>
              <a:t>Which launch decision is valid today?</a:t>
            </a:r>
          </a:p>
        </p:txBody>
      </p:sp>
      <p:sp>
        <p:nvSpPr>
          <p:cNvPr id="4" name="Rectangle 3"/>
          <p:cNvSpPr/>
          <p:nvPr/>
        </p:nvSpPr>
        <p:spPr>
          <a:xfrm>
            <a:off x="1463040" y="6373368"/>
            <a:ext cx="10058400" cy="22860"/>
          </a:xfrm>
          <a:prstGeom prst="rect">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6492240"/>
            <a:ext cx="9509760" cy="182880"/>
          </a:xfrm>
          <a:prstGeom prst="rect">
            <a:avLst/>
          </a:prstGeom>
          <a:noFill/>
        </p:spPr>
        <p:txBody>
          <a:bodyPr wrap="square" lIns="0" rIns="0" tIns="0" bIns="0">
            <a:spAutoFit/>
          </a:bodyPr>
          <a:lstStyle/>
          <a:p>
            <a:pPr algn="l">
              <a:lnSpc>
                <a:spcPct val="112000"/>
              </a:lnSpc>
              <a:spcAft>
                <a:spcPts val="900"/>
              </a:spcAft>
              <a:defRPr sz="900" b="0">
                <a:solidFill>
                  <a:srgbClr val="536378"/>
                </a:solidFill>
                <a:latin typeface="Arial"/>
              </a:defRPr>
              <a:buNone/>
            </a:pPr>
            <a:r>
              <a:t>Synthetic test case · 3 owner records from 64 rows · as of 8 Jul 2026 · full fixture in examples.json</a:t>
            </a:r>
          </a:p>
        </p:txBody>
      </p:sp>
      <p:sp>
        <p:nvSpPr>
          <p:cNvPr id="6" name="TextBox 5"/>
          <p:cNvSpPr txBox="1"/>
          <p:nvPr/>
        </p:nvSpPr>
        <p:spPr>
          <a:xfrm>
            <a:off x="10972800" y="6492240"/>
            <a:ext cx="548640" cy="182880"/>
          </a:xfrm>
          <a:prstGeom prst="rect">
            <a:avLst/>
          </a:prstGeom>
          <a:noFill/>
        </p:spPr>
        <p:txBody>
          <a:bodyPr wrap="square" lIns="0" rIns="0" tIns="0" bIns="0">
            <a:spAutoFit/>
          </a:bodyPr>
          <a:lstStyle/>
          <a:p>
            <a:pPr algn="r">
              <a:lnSpc>
                <a:spcPct val="112000"/>
              </a:lnSpc>
              <a:spcAft>
                <a:spcPts val="900"/>
              </a:spcAft>
              <a:defRPr sz="1000" b="0">
                <a:solidFill>
                  <a:srgbClr val="536378"/>
                </a:solidFill>
                <a:latin typeface="Arial"/>
              </a:defRPr>
              <a:buNone/>
            </a:pPr>
            <a:r>
              <a:t>4</a:t>
            </a:r>
          </a:p>
        </p:txBody>
      </p:sp>
      <p:sp>
        <p:nvSpPr>
          <p:cNvPr id="7" name="TextBox 6"/>
          <p:cNvSpPr txBox="1"/>
          <p:nvPr/>
        </p:nvSpPr>
        <p:spPr>
          <a:xfrm>
            <a:off x="1463040" y="1764792"/>
            <a:ext cx="10058400" cy="457200"/>
          </a:xfrm>
          <a:prstGeom prst="rect">
            <a:avLst/>
          </a:prstGeom>
          <a:noFill/>
        </p:spPr>
        <p:txBody>
          <a:bodyPr wrap="square" lIns="0" rIns="0" tIns="0" bIns="0">
            <a:spAutoFit/>
          </a:bodyPr>
          <a:lstStyle/>
          <a:p>
            <a:pPr algn="l">
              <a:lnSpc>
                <a:spcPct val="112000"/>
              </a:lnSpc>
              <a:spcAft>
                <a:spcPts val="900"/>
              </a:spcAft>
              <a:defRPr sz="2500" b="0">
                <a:solidFill>
                  <a:srgbClr val="536378"/>
                </a:solidFill>
                <a:latin typeface="Arial"/>
              </a:defRPr>
              <a:buNone/>
            </a:pPr>
            <a:r>
              <a:t>Three versions of one project’s launch-region decision.</a:t>
            </a:r>
          </a:p>
        </p:txBody>
      </p:sp>
      <p:sp>
        <p:nvSpPr>
          <p:cNvPr id="8" name="TextBox 7"/>
          <p:cNvSpPr txBox="1"/>
          <p:nvPr/>
        </p:nvSpPr>
        <p:spPr>
          <a:xfrm>
            <a:off x="1463040" y="2313432"/>
            <a:ext cx="10058400" cy="457200"/>
          </a:xfrm>
          <a:prstGeom prst="rect">
            <a:avLst/>
          </a:prstGeom>
          <a:noFill/>
        </p:spPr>
        <p:txBody>
          <a:bodyPr wrap="square" lIns="0" rIns="0" tIns="0" bIns="0">
            <a:spAutoFit/>
          </a:bodyPr>
          <a:lstStyle/>
          <a:p>
            <a:pPr algn="l">
              <a:lnSpc>
                <a:spcPct val="112000"/>
              </a:lnSpc>
              <a:spcAft>
                <a:spcPts val="900"/>
              </a:spcAft>
              <a:defRPr sz="2600" b="1">
                <a:solidFill>
                  <a:srgbClr val="1C4072"/>
                </a:solidFill>
                <a:latin typeface="Arial"/>
              </a:defRPr>
              <a:buNone/>
            </a:pPr>
            <a:r>
              <a:t>Use the latest approval that is still in force.</a:t>
            </a:r>
          </a:p>
        </p:txBody>
      </p:sp>
      <p:sp>
        <p:nvSpPr>
          <p:cNvPr id="9" name="Rectangle 8"/>
          <p:cNvSpPr/>
          <p:nvPr/>
        </p:nvSpPr>
        <p:spPr>
          <a:xfrm>
            <a:off x="1463040" y="3017520"/>
            <a:ext cx="3154680" cy="1792224"/>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4208" y="3182112"/>
            <a:ext cx="2752344"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REVISION 5</a:t>
            </a:r>
          </a:p>
        </p:txBody>
      </p:sp>
      <p:sp>
        <p:nvSpPr>
          <p:cNvPr id="11" name="TextBox 10"/>
          <p:cNvSpPr txBox="1"/>
          <p:nvPr/>
        </p:nvSpPr>
        <p:spPr>
          <a:xfrm>
            <a:off x="1664208" y="3657600"/>
            <a:ext cx="2752344" cy="1014983"/>
          </a:xfrm>
          <a:prstGeom prst="rect">
            <a:avLst/>
          </a:prstGeom>
          <a:noFill/>
        </p:spPr>
        <p:txBody>
          <a:bodyPr wrap="square" lIns="0" rIns="0" tIns="0" bIns="0">
            <a:spAutoFit/>
          </a:bodyPr>
          <a:lstStyle/>
          <a:p>
            <a:pPr algn="l">
              <a:lnSpc>
                <a:spcPct val="112000"/>
              </a:lnSpc>
              <a:spcAft>
                <a:spcPts val="900"/>
              </a:spcAft>
              <a:defRPr sz="2500" b="0">
                <a:solidFill>
                  <a:srgbClr val="202B3B"/>
                </a:solidFill>
                <a:latin typeface="Arial"/>
              </a:defRPr>
              <a:buNone/>
            </a:pPr>
            <a:r>
              <a:t>Approved.</a:t>
            </a:r>
          </a:p>
          <a:p>
            <a:pPr algn="l">
              <a:lnSpc>
                <a:spcPct val="112000"/>
              </a:lnSpc>
              <a:spcAft>
                <a:spcPts val="900"/>
              </a:spcAft>
              <a:defRPr sz="2500" b="0">
                <a:solidFill>
                  <a:srgbClr val="202B3B"/>
                </a:solidFill>
                <a:latin typeface="Arial"/>
              </a:defRPr>
              <a:buNone/>
            </a:pPr>
            <a:r>
              <a:t>Still in effect.</a:t>
            </a:r>
          </a:p>
        </p:txBody>
      </p:sp>
      <p:sp>
        <p:nvSpPr>
          <p:cNvPr id="12" name="Rectangle 11"/>
          <p:cNvSpPr/>
          <p:nvPr/>
        </p:nvSpPr>
        <p:spPr>
          <a:xfrm>
            <a:off x="4914900" y="3017520"/>
            <a:ext cx="3154680" cy="1792224"/>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16068" y="3182112"/>
            <a:ext cx="2752344"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REVISION 11</a:t>
            </a:r>
          </a:p>
        </p:txBody>
      </p:sp>
      <p:sp>
        <p:nvSpPr>
          <p:cNvPr id="14" name="TextBox 13"/>
          <p:cNvSpPr txBox="1"/>
          <p:nvPr/>
        </p:nvSpPr>
        <p:spPr>
          <a:xfrm>
            <a:off x="5116068" y="3657600"/>
            <a:ext cx="2752344" cy="1014983"/>
          </a:xfrm>
          <a:prstGeom prst="rect">
            <a:avLst/>
          </a:prstGeom>
          <a:noFill/>
        </p:spPr>
        <p:txBody>
          <a:bodyPr wrap="square" lIns="0" rIns="0" tIns="0" bIns="0">
            <a:spAutoFit/>
          </a:bodyPr>
          <a:lstStyle/>
          <a:p>
            <a:pPr algn="l">
              <a:lnSpc>
                <a:spcPct val="112000"/>
              </a:lnSpc>
              <a:spcAft>
                <a:spcPts val="900"/>
              </a:spcAft>
              <a:defRPr sz="2500" b="0">
                <a:solidFill>
                  <a:srgbClr val="202B3B"/>
                </a:solidFill>
                <a:latin typeface="Arial"/>
              </a:defRPr>
              <a:buNone/>
            </a:pPr>
            <a:r>
              <a:t>Approved.</a:t>
            </a:r>
          </a:p>
          <a:p>
            <a:pPr algn="l">
              <a:lnSpc>
                <a:spcPct val="112000"/>
              </a:lnSpc>
              <a:spcAft>
                <a:spcPts val="900"/>
              </a:spcAft>
              <a:defRPr sz="2500" b="0">
                <a:solidFill>
                  <a:srgbClr val="202B3B"/>
                </a:solidFill>
                <a:latin typeface="Arial"/>
              </a:defRPr>
              <a:buNone/>
            </a:pPr>
            <a:r>
              <a:t>Then withdrawn.</a:t>
            </a:r>
          </a:p>
        </p:txBody>
      </p:sp>
      <p:sp>
        <p:nvSpPr>
          <p:cNvPr id="15" name="Rectangle 14"/>
          <p:cNvSpPr/>
          <p:nvPr/>
        </p:nvSpPr>
        <p:spPr>
          <a:xfrm>
            <a:off x="8366760" y="3017520"/>
            <a:ext cx="3154680" cy="1792224"/>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67928" y="3182112"/>
            <a:ext cx="2752344"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REVISION 14</a:t>
            </a:r>
          </a:p>
        </p:txBody>
      </p:sp>
      <p:sp>
        <p:nvSpPr>
          <p:cNvPr id="17" name="TextBox 16"/>
          <p:cNvSpPr txBox="1"/>
          <p:nvPr/>
        </p:nvSpPr>
        <p:spPr>
          <a:xfrm>
            <a:off x="8567928" y="3657600"/>
            <a:ext cx="2752344" cy="1014983"/>
          </a:xfrm>
          <a:prstGeom prst="rect">
            <a:avLst/>
          </a:prstGeom>
          <a:noFill/>
        </p:spPr>
        <p:txBody>
          <a:bodyPr wrap="square" lIns="0" rIns="0" tIns="0" bIns="0">
            <a:spAutoFit/>
          </a:bodyPr>
          <a:lstStyle/>
          <a:p>
            <a:pPr algn="l">
              <a:lnSpc>
                <a:spcPct val="112000"/>
              </a:lnSpc>
              <a:spcAft>
                <a:spcPts val="900"/>
              </a:spcAft>
              <a:defRPr sz="2500" b="0">
                <a:solidFill>
                  <a:srgbClr val="202B3B"/>
                </a:solidFill>
                <a:latin typeface="Arial"/>
              </a:defRPr>
              <a:buNone/>
            </a:pPr>
            <a:r>
              <a:t>Draft.</a:t>
            </a:r>
          </a:p>
          <a:p>
            <a:pPr algn="l">
              <a:lnSpc>
                <a:spcPct val="112000"/>
              </a:lnSpc>
              <a:spcAft>
                <a:spcPts val="900"/>
              </a:spcAft>
              <a:defRPr sz="2500" b="0">
                <a:solidFill>
                  <a:srgbClr val="202B3B"/>
                </a:solidFill>
                <a:latin typeface="Arial"/>
              </a:defRPr>
              <a:buNone/>
            </a:pPr>
            <a:r>
              <a:t>Not approved.</a:t>
            </a:r>
          </a:p>
        </p:txBody>
      </p:sp>
      <p:sp>
        <p:nvSpPr>
          <p:cNvPr id="18" name="TextBox 17"/>
          <p:cNvSpPr txBox="1"/>
          <p:nvPr/>
        </p:nvSpPr>
        <p:spPr>
          <a:xfrm>
            <a:off x="1463040" y="5138928"/>
            <a:ext cx="10058400" cy="411480"/>
          </a:xfrm>
          <a:prstGeom prst="rect">
            <a:avLst/>
          </a:prstGeom>
          <a:noFill/>
        </p:spPr>
        <p:txBody>
          <a:bodyPr wrap="square" lIns="0" rIns="0" tIns="0" bIns="0">
            <a:spAutoFit/>
          </a:bodyPr>
          <a:lstStyle/>
          <a:p>
            <a:pPr algn="l">
              <a:lnSpc>
                <a:spcPct val="112000"/>
              </a:lnSpc>
              <a:spcAft>
                <a:spcPts val="900"/>
              </a:spcAft>
              <a:defRPr sz="2000" b="0">
                <a:solidFill>
                  <a:srgbClr val="536378"/>
                </a:solidFill>
                <a:latin typeface="Arial"/>
              </a:defRPr>
              <a:buNone/>
            </a:pPr>
            <a:r>
              <a:t>Older versions  →  Newer versions</a:t>
            </a:r>
          </a:p>
        </p:txBody>
      </p:sp>
      <p:sp>
        <p:nvSpPr>
          <p:cNvPr id="19" name="TextBox 18"/>
          <p:cNvSpPr txBox="1"/>
          <p:nvPr/>
        </p:nvSpPr>
        <p:spPr>
          <a:xfrm>
            <a:off x="1463040" y="5715000"/>
            <a:ext cx="10058400" cy="457200"/>
          </a:xfrm>
          <a:prstGeom prst="rect">
            <a:avLst/>
          </a:prstGeom>
          <a:noFill/>
        </p:spPr>
        <p:txBody>
          <a:bodyPr wrap="square" lIns="0" rIns="0" tIns="0" bIns="0">
            <a:spAutoFit/>
          </a:bodyPr>
          <a:lstStyle/>
          <a:p>
            <a:pPr algn="l">
              <a:lnSpc>
                <a:spcPct val="112000"/>
              </a:lnSpc>
              <a:spcAft>
                <a:spcPts val="900"/>
              </a:spcAft>
              <a:defRPr sz="2600" b="1">
                <a:solidFill>
                  <a:srgbClr val="1C4072"/>
                </a:solidFill>
                <a:latin typeface="Arial"/>
              </a:defRPr>
              <a:buNone/>
            </a:pPr>
            <a:r>
              <a:t>Which of these three can the answer rely 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329184"/>
            <a:ext cx="10058400"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RESOLVE ONCE</a:t>
            </a:r>
          </a:p>
        </p:txBody>
      </p:sp>
      <p:sp>
        <p:nvSpPr>
          <p:cNvPr id="3" name="TextBox 2"/>
          <p:cNvSpPr txBox="1"/>
          <p:nvPr/>
        </p:nvSpPr>
        <p:spPr>
          <a:xfrm>
            <a:off x="1463040" y="758952"/>
            <a:ext cx="10058400" cy="932688"/>
          </a:xfrm>
          <a:prstGeom prst="rect">
            <a:avLst/>
          </a:prstGeom>
          <a:noFill/>
        </p:spPr>
        <p:txBody>
          <a:bodyPr wrap="square" lIns="0" rIns="0" tIns="0" bIns="0">
            <a:spAutoFit/>
          </a:bodyPr>
          <a:lstStyle/>
          <a:p>
            <a:pPr algn="l">
              <a:lnSpc>
                <a:spcPct val="112000"/>
              </a:lnSpc>
              <a:spcAft>
                <a:spcPts val="900"/>
              </a:spcAft>
              <a:defRPr sz="3200" b="1">
                <a:solidFill>
                  <a:srgbClr val="1C4072"/>
                </a:solidFill>
                <a:latin typeface="Arial"/>
              </a:defRPr>
              <a:buNone/>
            </a:pPr>
            <a:r>
              <a:t>Revision 5 is still the valid decision.</a:t>
            </a:r>
          </a:p>
        </p:txBody>
      </p:sp>
      <p:sp>
        <p:nvSpPr>
          <p:cNvPr id="4" name="Rectangle 3"/>
          <p:cNvSpPr/>
          <p:nvPr/>
        </p:nvSpPr>
        <p:spPr>
          <a:xfrm>
            <a:off x="1463040" y="6373368"/>
            <a:ext cx="10058400" cy="22860"/>
          </a:xfrm>
          <a:prstGeom prst="rect">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6492240"/>
            <a:ext cx="9509760" cy="182880"/>
          </a:xfrm>
          <a:prstGeom prst="rect">
            <a:avLst/>
          </a:prstGeom>
          <a:noFill/>
        </p:spPr>
        <p:txBody>
          <a:bodyPr wrap="square" lIns="0" rIns="0" tIns="0" bIns="0">
            <a:spAutoFit/>
          </a:bodyPr>
          <a:lstStyle/>
          <a:p>
            <a:pPr algn="l">
              <a:lnSpc>
                <a:spcPct val="112000"/>
              </a:lnSpc>
              <a:spcAft>
                <a:spcPts val="900"/>
              </a:spcAft>
              <a:defRPr sz="900" b="0">
                <a:solidFill>
                  <a:srgbClr val="536378"/>
                </a:solidFill>
                <a:latin typeface="Arial"/>
              </a:defRPr>
              <a:buNone/>
            </a:pPr>
            <a:r>
              <a:t>Same synthetic test case · readable summary of the resolved row; exact value and full source in appendix 13</a:t>
            </a:r>
          </a:p>
        </p:txBody>
      </p:sp>
      <p:sp>
        <p:nvSpPr>
          <p:cNvPr id="6" name="TextBox 5"/>
          <p:cNvSpPr txBox="1"/>
          <p:nvPr/>
        </p:nvSpPr>
        <p:spPr>
          <a:xfrm>
            <a:off x="10972800" y="6492240"/>
            <a:ext cx="548640" cy="182880"/>
          </a:xfrm>
          <a:prstGeom prst="rect">
            <a:avLst/>
          </a:prstGeom>
          <a:noFill/>
        </p:spPr>
        <p:txBody>
          <a:bodyPr wrap="square" lIns="0" rIns="0" tIns="0" bIns="0">
            <a:spAutoFit/>
          </a:bodyPr>
          <a:lstStyle/>
          <a:p>
            <a:pPr algn="r">
              <a:lnSpc>
                <a:spcPct val="112000"/>
              </a:lnSpc>
              <a:spcAft>
                <a:spcPts val="900"/>
              </a:spcAft>
              <a:defRPr sz="1000" b="0">
                <a:solidFill>
                  <a:srgbClr val="536378"/>
                </a:solidFill>
                <a:latin typeface="Arial"/>
              </a:defRPr>
              <a:buNone/>
            </a:pPr>
            <a:r>
              <a:t>5</a:t>
            </a:r>
          </a:p>
        </p:txBody>
      </p:sp>
      <p:sp>
        <p:nvSpPr>
          <p:cNvPr id="7" name="TextBox 6"/>
          <p:cNvSpPr txBox="1"/>
          <p:nvPr/>
        </p:nvSpPr>
        <p:spPr>
          <a:xfrm>
            <a:off x="1463040" y="1764792"/>
            <a:ext cx="10058400" cy="457200"/>
          </a:xfrm>
          <a:prstGeom prst="rect">
            <a:avLst/>
          </a:prstGeom>
          <a:noFill/>
        </p:spPr>
        <p:txBody>
          <a:bodyPr wrap="square" lIns="0" rIns="0" tIns="0" bIns="0">
            <a:spAutoFit/>
          </a:bodyPr>
          <a:lstStyle/>
          <a:p>
            <a:pPr algn="l">
              <a:lnSpc>
                <a:spcPct val="112000"/>
              </a:lnSpc>
              <a:spcAft>
                <a:spcPts val="900"/>
              </a:spcAft>
              <a:defRPr sz="2400" b="0">
                <a:solidFill>
                  <a:srgbClr val="536378"/>
                </a:solidFill>
                <a:latin typeface="Arial"/>
              </a:defRPr>
              <a:buNone/>
            </a:pPr>
            <a:r>
              <a:t>The newer approval was withdrawn. The newest version is a draft.</a:t>
            </a:r>
          </a:p>
        </p:txBody>
      </p:sp>
      <p:sp>
        <p:nvSpPr>
          <p:cNvPr id="8" name="Rectangle 7"/>
          <p:cNvSpPr/>
          <p:nvPr/>
        </p:nvSpPr>
        <p:spPr>
          <a:xfrm>
            <a:off x="1463040" y="2496312"/>
            <a:ext cx="3154680" cy="1792224"/>
          </a:xfrm>
          <a:prstGeom prst="rect">
            <a:avLst/>
          </a:prstGeom>
          <a:solidFill>
            <a:srgbClr val="ECF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4208" y="2660904"/>
            <a:ext cx="2752344"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REVISION 5 / USE THIS</a:t>
            </a:r>
          </a:p>
        </p:txBody>
      </p:sp>
      <p:sp>
        <p:nvSpPr>
          <p:cNvPr id="10" name="TextBox 9"/>
          <p:cNvSpPr txBox="1"/>
          <p:nvPr/>
        </p:nvSpPr>
        <p:spPr>
          <a:xfrm>
            <a:off x="1664208" y="3136391"/>
            <a:ext cx="2752344" cy="1014983"/>
          </a:xfrm>
          <a:prstGeom prst="rect">
            <a:avLst/>
          </a:prstGeom>
          <a:noFill/>
        </p:spPr>
        <p:txBody>
          <a:bodyPr wrap="square" lIns="0" rIns="0" tIns="0" bIns="0">
            <a:spAutoFit/>
          </a:bodyPr>
          <a:lstStyle/>
          <a:p>
            <a:pPr algn="l">
              <a:lnSpc>
                <a:spcPct val="112000"/>
              </a:lnSpc>
              <a:spcAft>
                <a:spcPts val="900"/>
              </a:spcAft>
              <a:defRPr sz="2500" b="0">
                <a:solidFill>
                  <a:srgbClr val="202B3B"/>
                </a:solidFill>
                <a:latin typeface="Arial"/>
              </a:defRPr>
              <a:buNone/>
            </a:pPr>
            <a:r>
              <a:t>Approved.</a:t>
            </a:r>
          </a:p>
          <a:p>
            <a:pPr algn="l">
              <a:lnSpc>
                <a:spcPct val="112000"/>
              </a:lnSpc>
              <a:spcAft>
                <a:spcPts val="900"/>
              </a:spcAft>
              <a:defRPr sz="2500" b="0">
                <a:solidFill>
                  <a:srgbClr val="202B3B"/>
                </a:solidFill>
                <a:latin typeface="Arial"/>
              </a:defRPr>
              <a:buNone/>
            </a:pPr>
            <a:r>
              <a:t>Still in effect.</a:t>
            </a:r>
          </a:p>
        </p:txBody>
      </p:sp>
      <p:sp>
        <p:nvSpPr>
          <p:cNvPr id="11" name="Rectangle 10"/>
          <p:cNvSpPr/>
          <p:nvPr/>
        </p:nvSpPr>
        <p:spPr>
          <a:xfrm>
            <a:off x="4914900" y="2496312"/>
            <a:ext cx="3154680" cy="1792224"/>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16068" y="2660904"/>
            <a:ext cx="2752344"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REVISION 11 / EXCLUDE</a:t>
            </a:r>
          </a:p>
        </p:txBody>
      </p:sp>
      <p:sp>
        <p:nvSpPr>
          <p:cNvPr id="13" name="TextBox 12"/>
          <p:cNvSpPr txBox="1"/>
          <p:nvPr/>
        </p:nvSpPr>
        <p:spPr>
          <a:xfrm>
            <a:off x="5116068" y="3136391"/>
            <a:ext cx="2752344" cy="1014983"/>
          </a:xfrm>
          <a:prstGeom prst="rect">
            <a:avLst/>
          </a:prstGeom>
          <a:noFill/>
        </p:spPr>
        <p:txBody>
          <a:bodyPr wrap="square" lIns="0" rIns="0" tIns="0" bIns="0">
            <a:spAutoFit/>
          </a:bodyPr>
          <a:lstStyle/>
          <a:p>
            <a:pPr algn="l">
              <a:lnSpc>
                <a:spcPct val="112000"/>
              </a:lnSpc>
              <a:spcAft>
                <a:spcPts val="900"/>
              </a:spcAft>
              <a:defRPr sz="2500" b="0">
                <a:solidFill>
                  <a:srgbClr val="202B3B"/>
                </a:solidFill>
                <a:latin typeface="Arial"/>
              </a:defRPr>
              <a:buNone/>
            </a:pPr>
            <a:r>
              <a:t>Approval</a:t>
            </a:r>
          </a:p>
          <a:p>
            <a:pPr algn="l">
              <a:lnSpc>
                <a:spcPct val="112000"/>
              </a:lnSpc>
              <a:spcAft>
                <a:spcPts val="900"/>
              </a:spcAft>
              <a:defRPr sz="2500" b="0">
                <a:solidFill>
                  <a:srgbClr val="202B3B"/>
                </a:solidFill>
                <a:latin typeface="Arial"/>
              </a:defRPr>
              <a:buNone/>
            </a:pPr>
            <a:r>
              <a:t>withdrawn.</a:t>
            </a:r>
          </a:p>
        </p:txBody>
      </p:sp>
      <p:sp>
        <p:nvSpPr>
          <p:cNvPr id="14" name="Rectangle 13"/>
          <p:cNvSpPr/>
          <p:nvPr/>
        </p:nvSpPr>
        <p:spPr>
          <a:xfrm>
            <a:off x="8366760" y="2496312"/>
            <a:ext cx="3154680" cy="1792224"/>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67928" y="2660904"/>
            <a:ext cx="2752344"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REVISION 14 / EXCLUDE</a:t>
            </a:r>
          </a:p>
        </p:txBody>
      </p:sp>
      <p:sp>
        <p:nvSpPr>
          <p:cNvPr id="16" name="TextBox 15"/>
          <p:cNvSpPr txBox="1"/>
          <p:nvPr/>
        </p:nvSpPr>
        <p:spPr>
          <a:xfrm>
            <a:off x="8567928" y="3136391"/>
            <a:ext cx="2752344" cy="1014983"/>
          </a:xfrm>
          <a:prstGeom prst="rect">
            <a:avLst/>
          </a:prstGeom>
          <a:noFill/>
        </p:spPr>
        <p:txBody>
          <a:bodyPr wrap="square" lIns="0" rIns="0" tIns="0" bIns="0">
            <a:spAutoFit/>
          </a:bodyPr>
          <a:lstStyle/>
          <a:p>
            <a:pPr algn="l">
              <a:lnSpc>
                <a:spcPct val="112000"/>
              </a:lnSpc>
              <a:spcAft>
                <a:spcPts val="900"/>
              </a:spcAft>
              <a:defRPr sz="2500" b="0">
                <a:solidFill>
                  <a:srgbClr val="202B3B"/>
                </a:solidFill>
                <a:latin typeface="Arial"/>
              </a:defRPr>
              <a:buNone/>
            </a:pPr>
            <a:r>
              <a:t>Draft.</a:t>
            </a:r>
          </a:p>
          <a:p>
            <a:pPr algn="l">
              <a:lnSpc>
                <a:spcPct val="112000"/>
              </a:lnSpc>
              <a:spcAft>
                <a:spcPts val="900"/>
              </a:spcAft>
              <a:defRPr sz="2500" b="0">
                <a:solidFill>
                  <a:srgbClr val="202B3B"/>
                </a:solidFill>
                <a:latin typeface="Arial"/>
              </a:defRPr>
              <a:buNone/>
            </a:pPr>
            <a:r>
              <a:t>Not approved.</a:t>
            </a:r>
          </a:p>
        </p:txBody>
      </p:sp>
      <p:sp>
        <p:nvSpPr>
          <p:cNvPr id="17" name="Rectangle 16"/>
          <p:cNvSpPr/>
          <p:nvPr/>
        </p:nvSpPr>
        <p:spPr>
          <a:xfrm>
            <a:off x="1463040" y="4590288"/>
            <a:ext cx="10058400" cy="914400"/>
          </a:xfrm>
          <a:prstGeom prst="rect">
            <a:avLst/>
          </a:prstGeom>
          <a:solidFill>
            <a:srgbClr val="E9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64208" y="4718304"/>
            <a:ext cx="2743200"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KEEP THE SOURCE WITH THE FACT</a:t>
            </a:r>
          </a:p>
        </p:txBody>
      </p:sp>
      <p:sp>
        <p:nvSpPr>
          <p:cNvPr id="19" name="TextBox 18"/>
          <p:cNvSpPr txBox="1"/>
          <p:nvPr/>
        </p:nvSpPr>
        <p:spPr>
          <a:xfrm>
            <a:off x="1664208" y="5065776"/>
            <a:ext cx="2743200" cy="365760"/>
          </a:xfrm>
          <a:prstGeom prst="rect">
            <a:avLst/>
          </a:prstGeom>
          <a:noFill/>
        </p:spPr>
        <p:txBody>
          <a:bodyPr wrap="square" lIns="0" rIns="0" tIns="0" bIns="0">
            <a:spAutoFit/>
          </a:bodyPr>
          <a:lstStyle/>
          <a:p>
            <a:pPr algn="l">
              <a:lnSpc>
                <a:spcPct val="112000"/>
              </a:lnSpc>
              <a:spcAft>
                <a:spcPts val="900"/>
              </a:spcAft>
              <a:defRPr sz="1900" b="1">
                <a:solidFill>
                  <a:srgbClr val="1C4072"/>
                </a:solidFill>
                <a:latin typeface="Arial"/>
              </a:defRPr>
              <a:buNone/>
            </a:pPr>
            <a:r>
              <a:t>Launch-region decision</a:t>
            </a:r>
          </a:p>
        </p:txBody>
      </p:sp>
      <p:sp>
        <p:nvSpPr>
          <p:cNvPr id="20" name="TextBox 19"/>
          <p:cNvSpPr txBox="1"/>
          <p:nvPr/>
        </p:nvSpPr>
        <p:spPr>
          <a:xfrm>
            <a:off x="4663440" y="4754880"/>
            <a:ext cx="6492240" cy="594360"/>
          </a:xfrm>
          <a:prstGeom prst="rect">
            <a:avLst/>
          </a:prstGeom>
          <a:noFill/>
        </p:spPr>
        <p:txBody>
          <a:bodyPr wrap="square" lIns="0" rIns="0" tIns="0" bIns="0">
            <a:spAutoFit/>
          </a:bodyPr>
          <a:lstStyle/>
          <a:p>
            <a:pPr algn="l">
              <a:lnSpc>
                <a:spcPct val="112000"/>
              </a:lnSpc>
              <a:spcAft>
                <a:spcPts val="900"/>
              </a:spcAft>
              <a:defRPr sz="2600" b="1">
                <a:solidFill>
                  <a:srgbClr val="1C4072"/>
                </a:solidFill>
                <a:latin typeface="Arial"/>
              </a:defRPr>
              <a:buNone/>
            </a:pPr>
            <a:r>
              <a:t>Revision 5 · owner-approved-r5.md</a:t>
            </a:r>
          </a:p>
        </p:txBody>
      </p:sp>
      <p:sp>
        <p:nvSpPr>
          <p:cNvPr id="21" name="TextBox 20"/>
          <p:cNvSpPr txBox="1"/>
          <p:nvPr/>
        </p:nvSpPr>
        <p:spPr>
          <a:xfrm>
            <a:off x="1463040" y="5824728"/>
            <a:ext cx="10058400" cy="411480"/>
          </a:xfrm>
          <a:prstGeom prst="rect">
            <a:avLst/>
          </a:prstGeom>
          <a:noFill/>
        </p:spPr>
        <p:txBody>
          <a:bodyPr wrap="square" lIns="0" rIns="0" tIns="0" bIns="0">
            <a:spAutoFit/>
          </a:bodyPr>
          <a:lstStyle/>
          <a:p>
            <a:pPr algn="l">
              <a:lnSpc>
                <a:spcPct val="112000"/>
              </a:lnSpc>
              <a:spcAft>
                <a:spcPts val="900"/>
              </a:spcAft>
              <a:defRPr sz="2700" b="1">
                <a:solidFill>
                  <a:srgbClr val="1C4072"/>
                </a:solidFill>
                <a:latin typeface="Arial"/>
              </a:defRPr>
              <a:buNone/>
            </a:pPr>
            <a:r>
              <a:t>Resolve the rule once. Reuse the current fact.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329184"/>
            <a:ext cx="10058400"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MOVE WORK FROM READS TO CHANGES</a:t>
            </a:r>
          </a:p>
        </p:txBody>
      </p:sp>
      <p:sp>
        <p:nvSpPr>
          <p:cNvPr id="3" name="TextBox 2"/>
          <p:cNvSpPr txBox="1"/>
          <p:nvPr/>
        </p:nvSpPr>
        <p:spPr>
          <a:xfrm>
            <a:off x="1463040" y="758952"/>
            <a:ext cx="10058400" cy="932688"/>
          </a:xfrm>
          <a:prstGeom prst="rect">
            <a:avLst/>
          </a:prstGeom>
          <a:noFill/>
        </p:spPr>
        <p:txBody>
          <a:bodyPr wrap="square" lIns="0" rIns="0" tIns="0" bIns="0">
            <a:spAutoFit/>
          </a:bodyPr>
          <a:lstStyle/>
          <a:p>
            <a:pPr algn="l">
              <a:lnSpc>
                <a:spcPct val="112000"/>
              </a:lnSpc>
              <a:spcAft>
                <a:spcPts val="900"/>
              </a:spcAft>
              <a:defRPr sz="3200" b="1">
                <a:solidFill>
                  <a:srgbClr val="1C4072"/>
                </a:solidFill>
                <a:latin typeface="Arial"/>
              </a:defRPr>
              <a:buNone/>
            </a:pPr>
            <a:r>
              <a:t>Every new question should reuse that work.</a:t>
            </a:r>
          </a:p>
        </p:txBody>
      </p:sp>
      <p:sp>
        <p:nvSpPr>
          <p:cNvPr id="4" name="Rectangle 3"/>
          <p:cNvSpPr/>
          <p:nvPr/>
        </p:nvSpPr>
        <p:spPr>
          <a:xfrm>
            <a:off x="1463040" y="6373368"/>
            <a:ext cx="10058400" cy="22860"/>
          </a:xfrm>
          <a:prstGeom prst="rect">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6492240"/>
            <a:ext cx="9509760" cy="182880"/>
          </a:xfrm>
          <a:prstGeom prst="rect">
            <a:avLst/>
          </a:prstGeom>
          <a:noFill/>
        </p:spPr>
        <p:txBody>
          <a:bodyPr wrap="square" lIns="0" rIns="0" tIns="0" bIns="0">
            <a:spAutoFit/>
          </a:bodyPr>
          <a:lstStyle/>
          <a:p>
            <a:pPr algn="l">
              <a:lnSpc>
                <a:spcPct val="112000"/>
              </a:lnSpc>
              <a:spcAft>
                <a:spcPts val="900"/>
              </a:spcAft>
              <a:defRPr sz="900" b="0">
                <a:solidFill>
                  <a:srgbClr val="536378"/>
                </a:solidFill>
                <a:latin typeface="Arial"/>
              </a:defRPr>
              <a:buNone/>
            </a:pPr>
            <a:r>
              <a:t>Architecture: paper §III · schematic, not an additional measured experiment</a:t>
            </a:r>
          </a:p>
        </p:txBody>
      </p:sp>
      <p:sp>
        <p:nvSpPr>
          <p:cNvPr id="6" name="TextBox 5"/>
          <p:cNvSpPr txBox="1"/>
          <p:nvPr/>
        </p:nvSpPr>
        <p:spPr>
          <a:xfrm>
            <a:off x="10972800" y="6492240"/>
            <a:ext cx="548640" cy="182880"/>
          </a:xfrm>
          <a:prstGeom prst="rect">
            <a:avLst/>
          </a:prstGeom>
          <a:noFill/>
        </p:spPr>
        <p:txBody>
          <a:bodyPr wrap="square" lIns="0" rIns="0" tIns="0" bIns="0">
            <a:spAutoFit/>
          </a:bodyPr>
          <a:lstStyle/>
          <a:p>
            <a:pPr algn="r">
              <a:lnSpc>
                <a:spcPct val="112000"/>
              </a:lnSpc>
              <a:spcAft>
                <a:spcPts val="900"/>
              </a:spcAft>
              <a:defRPr sz="1000" b="0">
                <a:solidFill>
                  <a:srgbClr val="536378"/>
                </a:solidFill>
                <a:latin typeface="Arial"/>
              </a:defRPr>
              <a:buNone/>
            </a:pPr>
            <a:r>
              <a:t>6</a:t>
            </a:r>
          </a:p>
        </p:txBody>
      </p:sp>
      <p:sp>
        <p:nvSpPr>
          <p:cNvPr id="7" name="TextBox 6"/>
          <p:cNvSpPr txBox="1"/>
          <p:nvPr/>
        </p:nvSpPr>
        <p:spPr>
          <a:xfrm>
            <a:off x="1463040" y="1920240"/>
            <a:ext cx="9144000"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RECONSTRUCT AT READ TIME</a:t>
            </a:r>
          </a:p>
        </p:txBody>
      </p:sp>
      <p:sp>
        <p:nvSpPr>
          <p:cNvPr id="8" name="Rectangle 7"/>
          <p:cNvSpPr/>
          <p:nvPr/>
        </p:nvSpPr>
        <p:spPr>
          <a:xfrm>
            <a:off x="1463040" y="2350008"/>
            <a:ext cx="2377440" cy="9144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91056" y="2596896"/>
            <a:ext cx="2121408" cy="502920"/>
          </a:xfrm>
          <a:prstGeom prst="rect">
            <a:avLst/>
          </a:prstGeom>
          <a:noFill/>
        </p:spPr>
        <p:txBody>
          <a:bodyPr wrap="square" lIns="0" rIns="0" tIns="0" bIns="0">
            <a:spAutoFit/>
          </a:bodyPr>
          <a:lstStyle/>
          <a:p>
            <a:pPr algn="ctr">
              <a:lnSpc>
                <a:spcPct val="112000"/>
              </a:lnSpc>
              <a:spcAft>
                <a:spcPts val="900"/>
              </a:spcAft>
              <a:defRPr sz="2100" b="1">
                <a:solidFill>
                  <a:srgbClr val="202B3B"/>
                </a:solidFill>
                <a:latin typeface="Arial"/>
              </a:defRPr>
              <a:buNone/>
            </a:pPr>
            <a:r>
              <a:t>Retrieve rows</a:t>
            </a:r>
          </a:p>
        </p:txBody>
      </p:sp>
      <p:sp>
        <p:nvSpPr>
          <p:cNvPr id="10" name="Rectangle 9"/>
          <p:cNvSpPr/>
          <p:nvPr/>
        </p:nvSpPr>
        <p:spPr>
          <a:xfrm>
            <a:off x="4572000" y="2350008"/>
            <a:ext cx="3200400" cy="9144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00016" y="2596896"/>
            <a:ext cx="2944368" cy="502920"/>
          </a:xfrm>
          <a:prstGeom prst="rect">
            <a:avLst/>
          </a:prstGeom>
          <a:noFill/>
        </p:spPr>
        <p:txBody>
          <a:bodyPr wrap="square" lIns="0" rIns="0" tIns="0" bIns="0">
            <a:spAutoFit/>
          </a:bodyPr>
          <a:lstStyle/>
          <a:p>
            <a:pPr algn="ctr">
              <a:lnSpc>
                <a:spcPct val="112000"/>
              </a:lnSpc>
              <a:spcAft>
                <a:spcPts val="900"/>
              </a:spcAft>
              <a:defRPr sz="2100" b="1">
                <a:solidFill>
                  <a:srgbClr val="202B3B"/>
                </a:solidFill>
                <a:latin typeface="Arial"/>
              </a:defRPr>
              <a:buNone/>
            </a:pPr>
            <a:r>
              <a:t>Rebuild current state</a:t>
            </a:r>
          </a:p>
        </p:txBody>
      </p:sp>
      <p:sp>
        <p:nvSpPr>
          <p:cNvPr id="12" name="Rectangle 11"/>
          <p:cNvSpPr/>
          <p:nvPr/>
        </p:nvSpPr>
        <p:spPr>
          <a:xfrm>
            <a:off x="8458200" y="2350008"/>
            <a:ext cx="3063240" cy="9144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86216" y="2596896"/>
            <a:ext cx="2807208" cy="502920"/>
          </a:xfrm>
          <a:prstGeom prst="rect">
            <a:avLst/>
          </a:prstGeom>
          <a:noFill/>
        </p:spPr>
        <p:txBody>
          <a:bodyPr wrap="square" lIns="0" rIns="0" tIns="0" bIns="0">
            <a:spAutoFit/>
          </a:bodyPr>
          <a:lstStyle/>
          <a:p>
            <a:pPr algn="ctr">
              <a:lnSpc>
                <a:spcPct val="112000"/>
              </a:lnSpc>
              <a:spcAft>
                <a:spcPts val="900"/>
              </a:spcAft>
              <a:defRPr sz="2100" b="1">
                <a:solidFill>
                  <a:srgbClr val="202B3B"/>
                </a:solidFill>
                <a:latin typeface="Arial"/>
              </a:defRPr>
              <a:buNone/>
            </a:pPr>
            <a:r>
              <a:t>Answer</a:t>
            </a:r>
          </a:p>
        </p:txBody>
      </p:sp>
      <p:sp>
        <p:nvSpPr>
          <p:cNvPr id="14" name="TextBox 13"/>
          <p:cNvSpPr txBox="1"/>
          <p:nvPr/>
        </p:nvSpPr>
        <p:spPr>
          <a:xfrm>
            <a:off x="3977639" y="2606040"/>
            <a:ext cx="411480" cy="457200"/>
          </a:xfrm>
          <a:prstGeom prst="rect">
            <a:avLst/>
          </a:prstGeom>
          <a:noFill/>
        </p:spPr>
        <p:txBody>
          <a:bodyPr wrap="square" lIns="0" rIns="0" tIns="0" bIns="0">
            <a:spAutoFit/>
          </a:bodyPr>
          <a:lstStyle/>
          <a:p>
            <a:pPr algn="l">
              <a:lnSpc>
                <a:spcPct val="112000"/>
              </a:lnSpc>
              <a:spcAft>
                <a:spcPts val="900"/>
              </a:spcAft>
              <a:defRPr sz="2800" b="0">
                <a:solidFill>
                  <a:srgbClr val="1C4072"/>
                </a:solidFill>
                <a:latin typeface="Arial"/>
              </a:defRPr>
              <a:buNone/>
            </a:pPr>
            <a:r>
              <a:t>→</a:t>
            </a:r>
          </a:p>
        </p:txBody>
      </p:sp>
      <p:sp>
        <p:nvSpPr>
          <p:cNvPr id="15" name="TextBox 14"/>
          <p:cNvSpPr txBox="1"/>
          <p:nvPr/>
        </p:nvSpPr>
        <p:spPr>
          <a:xfrm>
            <a:off x="7900416" y="2606040"/>
            <a:ext cx="411480" cy="457200"/>
          </a:xfrm>
          <a:prstGeom prst="rect">
            <a:avLst/>
          </a:prstGeom>
          <a:noFill/>
        </p:spPr>
        <p:txBody>
          <a:bodyPr wrap="square" lIns="0" rIns="0" tIns="0" bIns="0">
            <a:spAutoFit/>
          </a:bodyPr>
          <a:lstStyle/>
          <a:p>
            <a:pPr algn="l">
              <a:lnSpc>
                <a:spcPct val="112000"/>
              </a:lnSpc>
              <a:spcAft>
                <a:spcPts val="900"/>
              </a:spcAft>
              <a:defRPr sz="2800" b="0">
                <a:solidFill>
                  <a:srgbClr val="1C4072"/>
                </a:solidFill>
                <a:latin typeface="Arial"/>
              </a:defRPr>
              <a:buNone/>
            </a:pPr>
            <a:r>
              <a:t>→</a:t>
            </a:r>
          </a:p>
        </p:txBody>
      </p:sp>
      <p:sp>
        <p:nvSpPr>
          <p:cNvPr id="16" name="TextBox 15"/>
          <p:cNvSpPr txBox="1"/>
          <p:nvPr/>
        </p:nvSpPr>
        <p:spPr>
          <a:xfrm>
            <a:off x="4572000" y="3456432"/>
            <a:ext cx="6949440" cy="457200"/>
          </a:xfrm>
          <a:prstGeom prst="rect">
            <a:avLst/>
          </a:prstGeom>
          <a:noFill/>
        </p:spPr>
        <p:txBody>
          <a:bodyPr wrap="square" lIns="0" rIns="0" tIns="0" bIns="0">
            <a:spAutoFit/>
          </a:bodyPr>
          <a:lstStyle/>
          <a:p>
            <a:pPr algn="l">
              <a:lnSpc>
                <a:spcPct val="112000"/>
              </a:lnSpc>
              <a:spcAft>
                <a:spcPts val="900"/>
              </a:spcAft>
              <a:defRPr sz="2400" b="1">
                <a:solidFill>
                  <a:srgbClr val="964536"/>
                </a:solidFill>
                <a:latin typeface="Arial"/>
              </a:defRPr>
              <a:buNone/>
            </a:pPr>
            <a:r>
              <a:t>…again for the next question.</a:t>
            </a:r>
          </a:p>
        </p:txBody>
      </p:sp>
      <p:sp>
        <p:nvSpPr>
          <p:cNvPr id="17" name="TextBox 16"/>
          <p:cNvSpPr txBox="1"/>
          <p:nvPr/>
        </p:nvSpPr>
        <p:spPr>
          <a:xfrm>
            <a:off x="1463040" y="4206240"/>
            <a:ext cx="9144000"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COMPILE AT INGEST / CHANGE TIME</a:t>
            </a:r>
          </a:p>
        </p:txBody>
      </p:sp>
      <p:sp>
        <p:nvSpPr>
          <p:cNvPr id="18" name="Rectangle 17"/>
          <p:cNvSpPr/>
          <p:nvPr/>
        </p:nvSpPr>
        <p:spPr>
          <a:xfrm>
            <a:off x="1463040" y="4617720"/>
            <a:ext cx="5943600" cy="914400"/>
          </a:xfrm>
          <a:prstGeom prst="rect">
            <a:avLst/>
          </a:prstGeom>
          <a:solidFill>
            <a:srgbClr val="1C40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45920" y="4864608"/>
            <a:ext cx="5577840" cy="502920"/>
          </a:xfrm>
          <a:prstGeom prst="rect">
            <a:avLst/>
          </a:prstGeom>
          <a:noFill/>
        </p:spPr>
        <p:txBody>
          <a:bodyPr wrap="square" lIns="0" rIns="0" tIns="0" bIns="0">
            <a:spAutoFit/>
          </a:bodyPr>
          <a:lstStyle/>
          <a:p>
            <a:pPr algn="ctr">
              <a:lnSpc>
                <a:spcPct val="112000"/>
              </a:lnSpc>
              <a:spcAft>
                <a:spcPts val="900"/>
              </a:spcAft>
              <a:defRPr sz="2300" b="1">
                <a:solidFill>
                  <a:srgbClr val="FFFFFF"/>
                </a:solidFill>
                <a:latin typeface="Arial"/>
              </a:defRPr>
              <a:buNone/>
            </a:pPr>
            <a:r>
              <a:t>Interpret + resolve → stored facts</a:t>
            </a:r>
          </a:p>
        </p:txBody>
      </p:sp>
      <p:sp>
        <p:nvSpPr>
          <p:cNvPr id="20" name="TextBox 19"/>
          <p:cNvSpPr txBox="1"/>
          <p:nvPr/>
        </p:nvSpPr>
        <p:spPr>
          <a:xfrm>
            <a:off x="7644383" y="4846320"/>
            <a:ext cx="411480" cy="457200"/>
          </a:xfrm>
          <a:prstGeom prst="rect">
            <a:avLst/>
          </a:prstGeom>
          <a:noFill/>
        </p:spPr>
        <p:txBody>
          <a:bodyPr wrap="square" lIns="0" rIns="0" tIns="0" bIns="0">
            <a:spAutoFit/>
          </a:bodyPr>
          <a:lstStyle/>
          <a:p>
            <a:pPr algn="l">
              <a:lnSpc>
                <a:spcPct val="112000"/>
              </a:lnSpc>
              <a:spcAft>
                <a:spcPts val="900"/>
              </a:spcAft>
              <a:defRPr sz="2800" b="0">
                <a:solidFill>
                  <a:srgbClr val="3D6B35"/>
                </a:solidFill>
                <a:latin typeface="Arial"/>
              </a:defRPr>
              <a:buNone/>
            </a:pPr>
            <a:r>
              <a:t>→</a:t>
            </a:r>
          </a:p>
        </p:txBody>
      </p:sp>
      <p:sp>
        <p:nvSpPr>
          <p:cNvPr id="21" name="Rectangle 20"/>
          <p:cNvSpPr/>
          <p:nvPr/>
        </p:nvSpPr>
        <p:spPr>
          <a:xfrm>
            <a:off x="8229600" y="4617720"/>
            <a:ext cx="3291840" cy="914400"/>
          </a:xfrm>
          <a:prstGeom prst="rect">
            <a:avLst/>
          </a:prstGeom>
          <a:solidFill>
            <a:srgbClr val="ECF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0" y="4846320"/>
            <a:ext cx="2926080" cy="502920"/>
          </a:xfrm>
          <a:prstGeom prst="rect">
            <a:avLst/>
          </a:prstGeom>
          <a:noFill/>
        </p:spPr>
        <p:txBody>
          <a:bodyPr wrap="square" lIns="0" rIns="0" tIns="0" bIns="0">
            <a:spAutoFit/>
          </a:bodyPr>
          <a:lstStyle/>
          <a:p>
            <a:pPr algn="ctr">
              <a:lnSpc>
                <a:spcPct val="112000"/>
              </a:lnSpc>
              <a:spcAft>
                <a:spcPts val="900"/>
              </a:spcAft>
              <a:defRPr sz="2500" b="1">
                <a:solidFill>
                  <a:srgbClr val="3D6B35"/>
                </a:solidFill>
                <a:latin typeface="Arial"/>
              </a:defRPr>
              <a:buNone/>
            </a:pPr>
            <a:r>
              <a:t>Read + cite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329184"/>
            <a:ext cx="10058400"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THE CONTROLLED TEST</a:t>
            </a:r>
          </a:p>
        </p:txBody>
      </p:sp>
      <p:sp>
        <p:nvSpPr>
          <p:cNvPr id="3" name="TextBox 2"/>
          <p:cNvSpPr txBox="1"/>
          <p:nvPr/>
        </p:nvSpPr>
        <p:spPr>
          <a:xfrm>
            <a:off x="1463040" y="758952"/>
            <a:ext cx="10058400" cy="932688"/>
          </a:xfrm>
          <a:prstGeom prst="rect">
            <a:avLst/>
          </a:prstGeom>
          <a:noFill/>
        </p:spPr>
        <p:txBody>
          <a:bodyPr wrap="square" lIns="0" rIns="0" tIns="0" bIns="0">
            <a:spAutoFit/>
          </a:bodyPr>
          <a:lstStyle/>
          <a:p>
            <a:pPr algn="l">
              <a:lnSpc>
                <a:spcPct val="112000"/>
              </a:lnSpc>
              <a:spcAft>
                <a:spcPts val="900"/>
              </a:spcAft>
              <a:defRPr sz="3200" b="1">
                <a:solidFill>
                  <a:srgbClr val="1C4072"/>
                </a:solidFill>
                <a:latin typeface="Arial"/>
              </a:defRPr>
              <a:buNone/>
            </a:pPr>
            <a:r>
              <a:t>We changed the reader’s job, not its model.</a:t>
            </a:r>
          </a:p>
        </p:txBody>
      </p:sp>
      <p:sp>
        <p:nvSpPr>
          <p:cNvPr id="4" name="Rectangle 3"/>
          <p:cNvSpPr/>
          <p:nvPr/>
        </p:nvSpPr>
        <p:spPr>
          <a:xfrm>
            <a:off x="1463040" y="6373368"/>
            <a:ext cx="10058400" cy="22860"/>
          </a:xfrm>
          <a:prstGeom prst="rect">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6492240"/>
            <a:ext cx="9509760" cy="182880"/>
          </a:xfrm>
          <a:prstGeom prst="rect">
            <a:avLst/>
          </a:prstGeom>
          <a:noFill/>
        </p:spPr>
        <p:txBody>
          <a:bodyPr wrap="square" lIns="0" rIns="0" tIns="0" bIns="0">
            <a:spAutoFit/>
          </a:bodyPr>
          <a:lstStyle/>
          <a:p>
            <a:pPr algn="l">
              <a:lnSpc>
                <a:spcPct val="112000"/>
              </a:lnSpc>
              <a:spcAft>
                <a:spcPts val="900"/>
              </a:spcAft>
              <a:defRPr sz="900" b="0">
                <a:solidFill>
                  <a:srgbClr val="536378"/>
                </a:solidFill>
                <a:latin typeface="Arial"/>
              </a:defRPr>
              <a:buNone/>
            </a:pPr>
            <a:r>
              <a:t>Table III · DeepSeek V4 Flash · six repeated questions × five seeds; exact value + source + revision</a:t>
            </a:r>
          </a:p>
        </p:txBody>
      </p:sp>
      <p:sp>
        <p:nvSpPr>
          <p:cNvPr id="6" name="TextBox 5"/>
          <p:cNvSpPr txBox="1"/>
          <p:nvPr/>
        </p:nvSpPr>
        <p:spPr>
          <a:xfrm>
            <a:off x="10972800" y="6492240"/>
            <a:ext cx="548640" cy="182880"/>
          </a:xfrm>
          <a:prstGeom prst="rect">
            <a:avLst/>
          </a:prstGeom>
          <a:noFill/>
        </p:spPr>
        <p:txBody>
          <a:bodyPr wrap="square" lIns="0" rIns="0" tIns="0" bIns="0">
            <a:spAutoFit/>
          </a:bodyPr>
          <a:lstStyle/>
          <a:p>
            <a:pPr algn="r">
              <a:lnSpc>
                <a:spcPct val="112000"/>
              </a:lnSpc>
              <a:spcAft>
                <a:spcPts val="900"/>
              </a:spcAft>
              <a:defRPr sz="1000" b="0">
                <a:solidFill>
                  <a:srgbClr val="536378"/>
                </a:solidFill>
                <a:latin typeface="Arial"/>
              </a:defRPr>
              <a:buNone/>
            </a:pPr>
            <a:r>
              <a:t>7</a:t>
            </a:r>
          </a:p>
        </p:txBody>
      </p:sp>
      <p:sp>
        <p:nvSpPr>
          <p:cNvPr id="7" name="Rectangle 6"/>
          <p:cNvSpPr/>
          <p:nvPr/>
        </p:nvSpPr>
        <p:spPr>
          <a:xfrm>
            <a:off x="1463040" y="1828800"/>
            <a:ext cx="4709160" cy="21031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64208" y="1993392"/>
            <a:ext cx="4306824"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RAW-CONTEXT INPUT / QSR</a:t>
            </a:r>
          </a:p>
        </p:txBody>
      </p:sp>
      <p:sp>
        <p:nvSpPr>
          <p:cNvPr id="9" name="TextBox 8"/>
          <p:cNvSpPr txBox="1"/>
          <p:nvPr/>
        </p:nvSpPr>
        <p:spPr>
          <a:xfrm>
            <a:off x="1664208" y="2468880"/>
            <a:ext cx="4306824" cy="1325879"/>
          </a:xfrm>
          <a:prstGeom prst="rect">
            <a:avLst/>
          </a:prstGeom>
          <a:noFill/>
        </p:spPr>
        <p:txBody>
          <a:bodyPr wrap="square" lIns="0" rIns="0" tIns="0" bIns="0">
            <a:spAutoFit/>
          </a:bodyPr>
          <a:lstStyle/>
          <a:p>
            <a:pPr algn="l">
              <a:lnSpc>
                <a:spcPct val="112000"/>
              </a:lnSpc>
              <a:spcAft>
                <a:spcPts val="900"/>
              </a:spcAft>
              <a:defRPr sz="2900" b="0">
                <a:solidFill>
                  <a:srgbClr val="202B3B"/>
                </a:solidFill>
                <a:latin typeface="Arial"/>
              </a:defRPr>
              <a:buNone/>
            </a:pPr>
            <a:r>
              <a:t>64 noisy rows</a:t>
            </a:r>
          </a:p>
          <a:p>
            <a:pPr algn="l">
              <a:lnSpc>
                <a:spcPct val="112000"/>
              </a:lnSpc>
              <a:spcAft>
                <a:spcPts val="900"/>
              </a:spcAft>
              <a:defRPr sz="2900" b="0">
                <a:solidFill>
                  <a:srgbClr val="202B3B"/>
                </a:solidFill>
                <a:latin typeface="Arial"/>
              </a:defRPr>
              <a:buNone/>
            </a:pPr>
            <a:r>
              <a:t>+ governance rules</a:t>
            </a:r>
          </a:p>
        </p:txBody>
      </p:sp>
      <p:sp>
        <p:nvSpPr>
          <p:cNvPr id="10" name="Rectangle 9"/>
          <p:cNvSpPr/>
          <p:nvPr/>
        </p:nvSpPr>
        <p:spPr>
          <a:xfrm>
            <a:off x="6812280" y="1828800"/>
            <a:ext cx="4709160" cy="2103120"/>
          </a:xfrm>
          <a:prstGeom prst="rect">
            <a:avLst/>
          </a:prstGeom>
          <a:solidFill>
            <a:srgbClr val="E9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13448" y="1993392"/>
            <a:ext cx="4306824"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RESOLVED INPUT / ISC</a:t>
            </a:r>
          </a:p>
        </p:txBody>
      </p:sp>
      <p:sp>
        <p:nvSpPr>
          <p:cNvPr id="12" name="TextBox 11"/>
          <p:cNvSpPr txBox="1"/>
          <p:nvPr/>
        </p:nvSpPr>
        <p:spPr>
          <a:xfrm>
            <a:off x="7013448" y="2468880"/>
            <a:ext cx="4306824" cy="1325879"/>
          </a:xfrm>
          <a:prstGeom prst="rect">
            <a:avLst/>
          </a:prstGeom>
          <a:noFill/>
        </p:spPr>
        <p:txBody>
          <a:bodyPr wrap="square" lIns="0" rIns="0" tIns="0" bIns="0">
            <a:spAutoFit/>
          </a:bodyPr>
          <a:lstStyle/>
          <a:p>
            <a:pPr algn="l">
              <a:lnSpc>
                <a:spcPct val="112000"/>
              </a:lnSpc>
              <a:spcAft>
                <a:spcPts val="900"/>
              </a:spcAft>
              <a:defRPr sz="2700" b="0">
                <a:solidFill>
                  <a:srgbClr val="202B3B"/>
                </a:solidFill>
                <a:latin typeface="Arial"/>
              </a:defRPr>
              <a:buNone/>
            </a:pPr>
            <a:r>
              <a:t>1 current row</a:t>
            </a:r>
          </a:p>
          <a:p>
            <a:pPr algn="l">
              <a:lnSpc>
                <a:spcPct val="112000"/>
              </a:lnSpc>
              <a:spcAft>
                <a:spcPts val="900"/>
              </a:spcAft>
              <a:defRPr sz="2700" b="0">
                <a:solidFill>
                  <a:srgbClr val="202B3B"/>
                </a:solidFill>
                <a:latin typeface="Arial"/>
              </a:defRPr>
              <a:buNone/>
            </a:pPr>
            <a:r>
              <a:t>+ the source behind it</a:t>
            </a:r>
          </a:p>
        </p:txBody>
      </p:sp>
      <p:sp>
        <p:nvSpPr>
          <p:cNvPr id="13" name="TextBox 12"/>
          <p:cNvSpPr txBox="1"/>
          <p:nvPr/>
        </p:nvSpPr>
        <p:spPr>
          <a:xfrm>
            <a:off x="1463040" y="4389120"/>
            <a:ext cx="10058400" cy="502920"/>
          </a:xfrm>
          <a:prstGeom prst="rect">
            <a:avLst/>
          </a:prstGeom>
          <a:noFill/>
        </p:spPr>
        <p:txBody>
          <a:bodyPr wrap="square" lIns="0" rIns="0" tIns="0" bIns="0">
            <a:spAutoFit/>
          </a:bodyPr>
          <a:lstStyle/>
          <a:p>
            <a:pPr algn="l">
              <a:lnSpc>
                <a:spcPct val="112000"/>
              </a:lnSpc>
              <a:spcAft>
                <a:spcPts val="900"/>
              </a:spcAft>
              <a:defRPr sz="2600" b="1">
                <a:solidFill>
                  <a:srgbClr val="1C4072"/>
                </a:solidFill>
                <a:latin typeface="Arial"/>
              </a:defRPr>
              <a:buNone/>
            </a:pPr>
            <a:r>
              <a:t>Same inexpensive model. Same requested answer format.</a:t>
            </a:r>
          </a:p>
        </p:txBody>
      </p:sp>
      <p:sp>
        <p:nvSpPr>
          <p:cNvPr id="14" name="TextBox 13"/>
          <p:cNvSpPr txBox="1"/>
          <p:nvPr/>
        </p:nvSpPr>
        <p:spPr>
          <a:xfrm>
            <a:off x="1463040" y="4983480"/>
            <a:ext cx="10058400" cy="749808"/>
          </a:xfrm>
          <a:prstGeom prst="rect">
            <a:avLst/>
          </a:prstGeom>
          <a:noFill/>
        </p:spPr>
        <p:txBody>
          <a:bodyPr wrap="square" lIns="0" rIns="0" tIns="0" bIns="0">
            <a:spAutoFit/>
          </a:bodyPr>
          <a:lstStyle/>
          <a:p>
            <a:pPr algn="l">
              <a:lnSpc>
                <a:spcPct val="112000"/>
              </a:lnSpc>
              <a:spcAft>
                <a:spcPts val="900"/>
              </a:spcAft>
              <a:defRPr sz="2500" b="0">
                <a:solidFill>
                  <a:srgbClr val="202B3B"/>
                </a:solidFill>
                <a:latin typeface="Arial"/>
              </a:defRPr>
              <a:buNone/>
            </a:pPr>
            <a:r>
              <a:t>Success means all three match:</a:t>
            </a:r>
          </a:p>
          <a:p>
            <a:pPr algn="l">
              <a:lnSpc>
                <a:spcPct val="112000"/>
              </a:lnSpc>
              <a:spcAft>
                <a:spcPts val="900"/>
              </a:spcAft>
              <a:defRPr sz="2500" b="0">
                <a:solidFill>
                  <a:srgbClr val="202B3B"/>
                </a:solidFill>
                <a:latin typeface="Arial"/>
              </a:defRPr>
              <a:buNone/>
            </a:pPr>
            <a:r>
              <a:t>the value, the source, and the revision.</a:t>
            </a:r>
          </a:p>
        </p:txBody>
      </p:sp>
      <p:sp>
        <p:nvSpPr>
          <p:cNvPr id="15" name="TextBox 14"/>
          <p:cNvSpPr txBox="1"/>
          <p:nvPr/>
        </p:nvSpPr>
        <p:spPr>
          <a:xfrm>
            <a:off x="1463040" y="5998464"/>
            <a:ext cx="10058400" cy="256032"/>
          </a:xfrm>
          <a:prstGeom prst="rect">
            <a:avLst/>
          </a:prstGeom>
          <a:noFill/>
        </p:spPr>
        <p:txBody>
          <a:bodyPr wrap="square" lIns="0" rIns="0" tIns="0" bIns="0">
            <a:spAutoFit/>
          </a:bodyPr>
          <a:lstStyle/>
          <a:p>
            <a:pPr algn="l">
              <a:lnSpc>
                <a:spcPct val="112000"/>
              </a:lnSpc>
              <a:spcAft>
                <a:spcPts val="900"/>
              </a:spcAft>
              <a:defRPr sz="1500" b="0">
                <a:solidFill>
                  <a:srgbClr val="536378"/>
                </a:solidFill>
                <a:latin typeface="Arial"/>
              </a:defRPr>
              <a:buNone/>
            </a:pPr>
            <a:r>
              <a:t>Control: the resolved row is supplied from known answers; compiler accuracy is not measured.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329184"/>
            <a:ext cx="10058400"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THE RESULT</a:t>
            </a:r>
          </a:p>
        </p:txBody>
      </p:sp>
      <p:sp>
        <p:nvSpPr>
          <p:cNvPr id="3" name="TextBox 2"/>
          <p:cNvSpPr txBox="1"/>
          <p:nvPr/>
        </p:nvSpPr>
        <p:spPr>
          <a:xfrm>
            <a:off x="1463040" y="758952"/>
            <a:ext cx="10058400" cy="932688"/>
          </a:xfrm>
          <a:prstGeom prst="rect">
            <a:avLst/>
          </a:prstGeom>
          <a:noFill/>
        </p:spPr>
        <p:txBody>
          <a:bodyPr wrap="square" lIns="0" rIns="0" tIns="0" bIns="0">
            <a:spAutoFit/>
          </a:bodyPr>
          <a:lstStyle/>
          <a:p>
            <a:pPr algn="l">
              <a:lnSpc>
                <a:spcPct val="112000"/>
              </a:lnSpc>
              <a:spcAft>
                <a:spcPts val="900"/>
              </a:spcAft>
              <a:defRPr sz="3200" b="1">
                <a:solidFill>
                  <a:srgbClr val="1C4072"/>
                </a:solidFill>
                <a:latin typeface="Arial"/>
              </a:defRPr>
              <a:buNone/>
            </a:pPr>
            <a:r>
              <a:t>Same model: 1/30 exact answers → 30/30.</a:t>
            </a:r>
          </a:p>
        </p:txBody>
      </p:sp>
      <p:sp>
        <p:nvSpPr>
          <p:cNvPr id="4" name="Rectangle 3"/>
          <p:cNvSpPr/>
          <p:nvPr/>
        </p:nvSpPr>
        <p:spPr>
          <a:xfrm>
            <a:off x="1463040" y="6373368"/>
            <a:ext cx="10058400" cy="22860"/>
          </a:xfrm>
          <a:prstGeom prst="rect">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6492240"/>
            <a:ext cx="9509760" cy="182880"/>
          </a:xfrm>
          <a:prstGeom prst="rect">
            <a:avLst/>
          </a:prstGeom>
          <a:noFill/>
        </p:spPr>
        <p:txBody>
          <a:bodyPr wrap="square" lIns="0" rIns="0" tIns="0" bIns="0">
            <a:spAutoFit/>
          </a:bodyPr>
          <a:lstStyle/>
          <a:p>
            <a:pPr algn="l">
              <a:lnSpc>
                <a:spcPct val="112000"/>
              </a:lnSpc>
              <a:spcAft>
                <a:spcPts val="900"/>
              </a:spcAft>
              <a:defRPr sz="900" b="0">
                <a:solidFill>
                  <a:srgbClr val="536378"/>
                </a:solidFill>
                <a:latin typeface="Arial"/>
              </a:defRPr>
              <a:buNone/>
            </a:pPr>
            <a:r>
              <a:t>Table III + Aug 20 log audit · synthetic governance test · six questions repeated across five seeds</a:t>
            </a:r>
          </a:p>
        </p:txBody>
      </p:sp>
      <p:sp>
        <p:nvSpPr>
          <p:cNvPr id="6" name="TextBox 5"/>
          <p:cNvSpPr txBox="1"/>
          <p:nvPr/>
        </p:nvSpPr>
        <p:spPr>
          <a:xfrm>
            <a:off x="10972800" y="6492240"/>
            <a:ext cx="548640" cy="182880"/>
          </a:xfrm>
          <a:prstGeom prst="rect">
            <a:avLst/>
          </a:prstGeom>
          <a:noFill/>
        </p:spPr>
        <p:txBody>
          <a:bodyPr wrap="square" lIns="0" rIns="0" tIns="0" bIns="0">
            <a:spAutoFit/>
          </a:bodyPr>
          <a:lstStyle/>
          <a:p>
            <a:pPr algn="r">
              <a:lnSpc>
                <a:spcPct val="112000"/>
              </a:lnSpc>
              <a:spcAft>
                <a:spcPts val="900"/>
              </a:spcAft>
              <a:defRPr sz="1000" b="0">
                <a:solidFill>
                  <a:srgbClr val="536378"/>
                </a:solidFill>
                <a:latin typeface="Arial"/>
              </a:defRPr>
              <a:buNone/>
            </a:pPr>
            <a:r>
              <a:t>8</a:t>
            </a:r>
          </a:p>
        </p:txBody>
      </p:sp>
      <p:sp>
        <p:nvSpPr>
          <p:cNvPr id="7" name="TextBox 6"/>
          <p:cNvSpPr txBox="1"/>
          <p:nvPr/>
        </p:nvSpPr>
        <p:spPr>
          <a:xfrm>
            <a:off x="1463040" y="1874519"/>
            <a:ext cx="4709160"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RECONSTRUCT AT QUERY TIME</a:t>
            </a:r>
          </a:p>
        </p:txBody>
      </p:sp>
      <p:sp>
        <p:nvSpPr>
          <p:cNvPr id="8" name="TextBox 7"/>
          <p:cNvSpPr txBox="1"/>
          <p:nvPr/>
        </p:nvSpPr>
        <p:spPr>
          <a:xfrm>
            <a:off x="1463040" y="2267712"/>
            <a:ext cx="4709160" cy="886968"/>
          </a:xfrm>
          <a:prstGeom prst="rect">
            <a:avLst/>
          </a:prstGeom>
          <a:noFill/>
        </p:spPr>
        <p:txBody>
          <a:bodyPr wrap="square" lIns="0" rIns="0" tIns="0" bIns="0">
            <a:spAutoFit/>
          </a:bodyPr>
          <a:lstStyle/>
          <a:p>
            <a:pPr algn="l">
              <a:lnSpc>
                <a:spcPct val="112000"/>
              </a:lnSpc>
              <a:spcAft>
                <a:spcPts val="900"/>
              </a:spcAft>
              <a:defRPr sz="6100" b="1">
                <a:solidFill>
                  <a:srgbClr val="1C4072"/>
                </a:solidFill>
                <a:latin typeface="Arial"/>
              </a:defRPr>
              <a:buNone/>
            </a:pPr>
            <a:r>
              <a:t>1/30</a:t>
            </a:r>
          </a:p>
        </p:txBody>
      </p:sp>
      <p:sp>
        <p:nvSpPr>
          <p:cNvPr id="9" name="Oval 8"/>
          <p:cNvSpPr/>
          <p:nvPr/>
        </p:nvSpPr>
        <p:spPr>
          <a:xfrm>
            <a:off x="1463040" y="3547872"/>
            <a:ext cx="265176" cy="265176"/>
          </a:xfrm>
          <a:prstGeom prst="ellipse">
            <a:avLst/>
          </a:prstGeom>
          <a:solidFill>
            <a:srgbClr val="1C40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892808" y="3547872"/>
            <a:ext cx="265176" cy="265176"/>
          </a:xfrm>
          <a:prstGeom prst="ellipse">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322576" y="3547872"/>
            <a:ext cx="265176" cy="265176"/>
          </a:xfrm>
          <a:prstGeom prst="ellipse">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752344" y="3547872"/>
            <a:ext cx="265176" cy="265176"/>
          </a:xfrm>
          <a:prstGeom prst="ellipse">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182112" y="3547872"/>
            <a:ext cx="265176" cy="265176"/>
          </a:xfrm>
          <a:prstGeom prst="ellipse">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11879" y="3547872"/>
            <a:ext cx="265176" cy="265176"/>
          </a:xfrm>
          <a:prstGeom prst="ellipse">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41648" y="3547872"/>
            <a:ext cx="265176" cy="265176"/>
          </a:xfrm>
          <a:prstGeom prst="ellipse">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71416" y="3547872"/>
            <a:ext cx="265176" cy="265176"/>
          </a:xfrm>
          <a:prstGeom prst="ellipse">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901183" y="3547872"/>
            <a:ext cx="265176" cy="265176"/>
          </a:xfrm>
          <a:prstGeom prst="ellipse">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330952" y="3547872"/>
            <a:ext cx="265176" cy="265176"/>
          </a:xfrm>
          <a:prstGeom prst="ellipse">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463040" y="3977639"/>
            <a:ext cx="265176" cy="265176"/>
          </a:xfrm>
          <a:prstGeom prst="ellipse">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892808" y="3977639"/>
            <a:ext cx="265176" cy="265176"/>
          </a:xfrm>
          <a:prstGeom prst="ellipse">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322576" y="3977639"/>
            <a:ext cx="265176" cy="265176"/>
          </a:xfrm>
          <a:prstGeom prst="ellipse">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752344" y="3977639"/>
            <a:ext cx="265176" cy="265176"/>
          </a:xfrm>
          <a:prstGeom prst="ellipse">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182112" y="3977639"/>
            <a:ext cx="265176" cy="265176"/>
          </a:xfrm>
          <a:prstGeom prst="ellipse">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611879" y="3977639"/>
            <a:ext cx="265176" cy="265176"/>
          </a:xfrm>
          <a:prstGeom prst="ellipse">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041648" y="3977639"/>
            <a:ext cx="265176" cy="265176"/>
          </a:xfrm>
          <a:prstGeom prst="ellipse">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471416" y="3977639"/>
            <a:ext cx="265176" cy="265176"/>
          </a:xfrm>
          <a:prstGeom prst="ellipse">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901183" y="3977639"/>
            <a:ext cx="265176" cy="265176"/>
          </a:xfrm>
          <a:prstGeom prst="ellipse">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330952" y="3977639"/>
            <a:ext cx="265176" cy="265176"/>
          </a:xfrm>
          <a:prstGeom prst="ellipse">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463040" y="4407408"/>
            <a:ext cx="265176" cy="265176"/>
          </a:xfrm>
          <a:prstGeom prst="ellipse">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892808" y="4407408"/>
            <a:ext cx="265176" cy="265176"/>
          </a:xfrm>
          <a:prstGeom prst="ellipse">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322576" y="4407408"/>
            <a:ext cx="265176" cy="265176"/>
          </a:xfrm>
          <a:prstGeom prst="ellipse">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2752344" y="4407408"/>
            <a:ext cx="265176" cy="265176"/>
          </a:xfrm>
          <a:prstGeom prst="ellipse">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182112" y="4407408"/>
            <a:ext cx="265176" cy="265176"/>
          </a:xfrm>
          <a:prstGeom prst="ellipse">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611879" y="4407408"/>
            <a:ext cx="265176" cy="265176"/>
          </a:xfrm>
          <a:prstGeom prst="ellipse">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041648" y="4407408"/>
            <a:ext cx="265176" cy="265176"/>
          </a:xfrm>
          <a:prstGeom prst="ellipse">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471416" y="4407408"/>
            <a:ext cx="265176" cy="265176"/>
          </a:xfrm>
          <a:prstGeom prst="ellipse">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4901183" y="4407408"/>
            <a:ext cx="265176" cy="265176"/>
          </a:xfrm>
          <a:prstGeom prst="ellipse">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330952" y="4407408"/>
            <a:ext cx="265176" cy="265176"/>
          </a:xfrm>
          <a:prstGeom prst="ellipse">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12280" y="1874519"/>
            <a:ext cx="4709160" cy="256032"/>
          </a:xfrm>
          <a:prstGeom prst="rect">
            <a:avLst/>
          </a:prstGeom>
          <a:noFill/>
        </p:spPr>
        <p:txBody>
          <a:bodyPr wrap="square" lIns="0" rIns="0" tIns="0" bIns="0">
            <a:spAutoFit/>
          </a:bodyPr>
          <a:lstStyle/>
          <a:p>
            <a:pPr algn="l">
              <a:lnSpc>
                <a:spcPct val="112000"/>
              </a:lnSpc>
              <a:spcAft>
                <a:spcPts val="900"/>
              </a:spcAft>
              <a:defRPr sz="1100" b="1">
                <a:solidFill>
                  <a:srgbClr val="3D6B35"/>
                </a:solidFill>
                <a:latin typeface="Arial"/>
              </a:defRPr>
              <a:buNone/>
            </a:pPr>
            <a:r>
              <a:t>READ THE RESOLVED ROW</a:t>
            </a:r>
          </a:p>
        </p:txBody>
      </p:sp>
      <p:sp>
        <p:nvSpPr>
          <p:cNvPr id="40" name="TextBox 39"/>
          <p:cNvSpPr txBox="1"/>
          <p:nvPr/>
        </p:nvSpPr>
        <p:spPr>
          <a:xfrm>
            <a:off x="6812280" y="2267712"/>
            <a:ext cx="4709160" cy="886968"/>
          </a:xfrm>
          <a:prstGeom prst="rect">
            <a:avLst/>
          </a:prstGeom>
          <a:noFill/>
        </p:spPr>
        <p:txBody>
          <a:bodyPr wrap="square" lIns="0" rIns="0" tIns="0" bIns="0">
            <a:spAutoFit/>
          </a:bodyPr>
          <a:lstStyle/>
          <a:p>
            <a:pPr algn="l">
              <a:lnSpc>
                <a:spcPct val="112000"/>
              </a:lnSpc>
              <a:spcAft>
                <a:spcPts val="900"/>
              </a:spcAft>
              <a:defRPr sz="6100" b="1">
                <a:solidFill>
                  <a:srgbClr val="3D6B35"/>
                </a:solidFill>
                <a:latin typeface="Arial"/>
              </a:defRPr>
              <a:buNone/>
            </a:pPr>
            <a:r>
              <a:t>30/30</a:t>
            </a:r>
          </a:p>
        </p:txBody>
      </p:sp>
      <p:sp>
        <p:nvSpPr>
          <p:cNvPr id="41" name="Oval 40"/>
          <p:cNvSpPr/>
          <p:nvPr/>
        </p:nvSpPr>
        <p:spPr>
          <a:xfrm>
            <a:off x="6812280" y="3547872"/>
            <a:ext cx="265176" cy="265176"/>
          </a:xfrm>
          <a:prstGeom prst="ellipse">
            <a:avLst/>
          </a:prstGeom>
          <a:solidFill>
            <a:srgbClr val="3D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242048" y="3547872"/>
            <a:ext cx="265176" cy="265176"/>
          </a:xfrm>
          <a:prstGeom prst="ellipse">
            <a:avLst/>
          </a:prstGeom>
          <a:solidFill>
            <a:srgbClr val="3D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671816" y="3547872"/>
            <a:ext cx="265176" cy="265176"/>
          </a:xfrm>
          <a:prstGeom prst="ellipse">
            <a:avLst/>
          </a:prstGeom>
          <a:solidFill>
            <a:srgbClr val="3D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101583" y="3547872"/>
            <a:ext cx="265176" cy="265176"/>
          </a:xfrm>
          <a:prstGeom prst="ellipse">
            <a:avLst/>
          </a:prstGeom>
          <a:solidFill>
            <a:srgbClr val="3D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531352" y="3547872"/>
            <a:ext cx="265176" cy="265176"/>
          </a:xfrm>
          <a:prstGeom prst="ellipse">
            <a:avLst/>
          </a:prstGeom>
          <a:solidFill>
            <a:srgbClr val="3D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8961120" y="3547872"/>
            <a:ext cx="265176" cy="265176"/>
          </a:xfrm>
          <a:prstGeom prst="ellipse">
            <a:avLst/>
          </a:prstGeom>
          <a:solidFill>
            <a:srgbClr val="3D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9390888" y="3547872"/>
            <a:ext cx="265176" cy="265176"/>
          </a:xfrm>
          <a:prstGeom prst="ellipse">
            <a:avLst/>
          </a:prstGeom>
          <a:solidFill>
            <a:srgbClr val="3D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9820656" y="3547872"/>
            <a:ext cx="265176" cy="265176"/>
          </a:xfrm>
          <a:prstGeom prst="ellipse">
            <a:avLst/>
          </a:prstGeom>
          <a:solidFill>
            <a:srgbClr val="3D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250424" y="3547872"/>
            <a:ext cx="265176" cy="265176"/>
          </a:xfrm>
          <a:prstGeom prst="ellipse">
            <a:avLst/>
          </a:prstGeom>
          <a:solidFill>
            <a:srgbClr val="3D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680192" y="3547872"/>
            <a:ext cx="265176" cy="265176"/>
          </a:xfrm>
          <a:prstGeom prst="ellipse">
            <a:avLst/>
          </a:prstGeom>
          <a:solidFill>
            <a:srgbClr val="3D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6812280" y="3977639"/>
            <a:ext cx="265176" cy="265176"/>
          </a:xfrm>
          <a:prstGeom prst="ellipse">
            <a:avLst/>
          </a:prstGeom>
          <a:solidFill>
            <a:srgbClr val="3D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7242048" y="3977639"/>
            <a:ext cx="265176" cy="265176"/>
          </a:xfrm>
          <a:prstGeom prst="ellipse">
            <a:avLst/>
          </a:prstGeom>
          <a:solidFill>
            <a:srgbClr val="3D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7671816" y="3977639"/>
            <a:ext cx="265176" cy="265176"/>
          </a:xfrm>
          <a:prstGeom prst="ellipse">
            <a:avLst/>
          </a:prstGeom>
          <a:solidFill>
            <a:srgbClr val="3D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8101583" y="3977639"/>
            <a:ext cx="265176" cy="265176"/>
          </a:xfrm>
          <a:prstGeom prst="ellipse">
            <a:avLst/>
          </a:prstGeom>
          <a:solidFill>
            <a:srgbClr val="3D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8531352" y="3977639"/>
            <a:ext cx="265176" cy="265176"/>
          </a:xfrm>
          <a:prstGeom prst="ellipse">
            <a:avLst/>
          </a:prstGeom>
          <a:solidFill>
            <a:srgbClr val="3D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8961120" y="3977639"/>
            <a:ext cx="265176" cy="265176"/>
          </a:xfrm>
          <a:prstGeom prst="ellipse">
            <a:avLst/>
          </a:prstGeom>
          <a:solidFill>
            <a:srgbClr val="3D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9390888" y="3977639"/>
            <a:ext cx="265176" cy="265176"/>
          </a:xfrm>
          <a:prstGeom prst="ellipse">
            <a:avLst/>
          </a:prstGeom>
          <a:solidFill>
            <a:srgbClr val="3D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9820656" y="3977639"/>
            <a:ext cx="265176" cy="265176"/>
          </a:xfrm>
          <a:prstGeom prst="ellipse">
            <a:avLst/>
          </a:prstGeom>
          <a:solidFill>
            <a:srgbClr val="3D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0250424" y="3977639"/>
            <a:ext cx="265176" cy="265176"/>
          </a:xfrm>
          <a:prstGeom prst="ellipse">
            <a:avLst/>
          </a:prstGeom>
          <a:solidFill>
            <a:srgbClr val="3D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0680192" y="3977639"/>
            <a:ext cx="265176" cy="265176"/>
          </a:xfrm>
          <a:prstGeom prst="ellipse">
            <a:avLst/>
          </a:prstGeom>
          <a:solidFill>
            <a:srgbClr val="3D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6812280" y="4407408"/>
            <a:ext cx="265176" cy="265176"/>
          </a:xfrm>
          <a:prstGeom prst="ellipse">
            <a:avLst/>
          </a:prstGeom>
          <a:solidFill>
            <a:srgbClr val="3D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7242048" y="4407408"/>
            <a:ext cx="265176" cy="265176"/>
          </a:xfrm>
          <a:prstGeom prst="ellipse">
            <a:avLst/>
          </a:prstGeom>
          <a:solidFill>
            <a:srgbClr val="3D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7671816" y="4407408"/>
            <a:ext cx="265176" cy="265176"/>
          </a:xfrm>
          <a:prstGeom prst="ellipse">
            <a:avLst/>
          </a:prstGeom>
          <a:solidFill>
            <a:srgbClr val="3D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8101583" y="4407408"/>
            <a:ext cx="265176" cy="265176"/>
          </a:xfrm>
          <a:prstGeom prst="ellipse">
            <a:avLst/>
          </a:prstGeom>
          <a:solidFill>
            <a:srgbClr val="3D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8531352" y="4407408"/>
            <a:ext cx="265176" cy="265176"/>
          </a:xfrm>
          <a:prstGeom prst="ellipse">
            <a:avLst/>
          </a:prstGeom>
          <a:solidFill>
            <a:srgbClr val="3D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8961120" y="4407408"/>
            <a:ext cx="265176" cy="265176"/>
          </a:xfrm>
          <a:prstGeom prst="ellipse">
            <a:avLst/>
          </a:prstGeom>
          <a:solidFill>
            <a:srgbClr val="3D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9390888" y="4407408"/>
            <a:ext cx="265176" cy="265176"/>
          </a:xfrm>
          <a:prstGeom prst="ellipse">
            <a:avLst/>
          </a:prstGeom>
          <a:solidFill>
            <a:srgbClr val="3D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9820656" y="4407408"/>
            <a:ext cx="265176" cy="265176"/>
          </a:xfrm>
          <a:prstGeom prst="ellipse">
            <a:avLst/>
          </a:prstGeom>
          <a:solidFill>
            <a:srgbClr val="3D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10250424" y="4407408"/>
            <a:ext cx="265176" cy="265176"/>
          </a:xfrm>
          <a:prstGeom prst="ellipse">
            <a:avLst/>
          </a:prstGeom>
          <a:solidFill>
            <a:srgbClr val="3D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10680192" y="4407408"/>
            <a:ext cx="265176" cy="265176"/>
          </a:xfrm>
          <a:prstGeom prst="ellipse">
            <a:avLst/>
          </a:prstGeom>
          <a:solidFill>
            <a:srgbClr val="3D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463040" y="5239512"/>
            <a:ext cx="10058400" cy="694944"/>
          </a:xfrm>
          <a:prstGeom prst="rect">
            <a:avLst/>
          </a:prstGeom>
          <a:noFill/>
        </p:spPr>
        <p:txBody>
          <a:bodyPr wrap="square" lIns="0" rIns="0" tIns="0" bIns="0">
            <a:spAutoFit/>
          </a:bodyPr>
          <a:lstStyle/>
          <a:p>
            <a:pPr algn="l">
              <a:lnSpc>
                <a:spcPct val="112000"/>
              </a:lnSpc>
              <a:spcAft>
                <a:spcPts val="900"/>
              </a:spcAft>
              <a:defRPr sz="2400" b="0">
                <a:solidFill>
                  <a:srgbClr val="536378"/>
                </a:solidFill>
                <a:latin typeface="Arial"/>
              </a:defRPr>
              <a:buNone/>
            </a:pPr>
            <a:r>
              <a:t>29 QSR runs exhausted the completion budget</a:t>
            </a:r>
          </a:p>
          <a:p>
            <a:pPr algn="l">
              <a:lnSpc>
                <a:spcPct val="112000"/>
              </a:lnSpc>
              <a:spcAft>
                <a:spcPts val="900"/>
              </a:spcAft>
              <a:defRPr sz="2400" b="0">
                <a:solidFill>
                  <a:srgbClr val="536378"/>
                </a:solidFill>
                <a:latin typeface="Arial"/>
              </a:defRPr>
              <a:buNone/>
            </a:pPr>
            <a:r>
              <a:t>before producing a parseable final answer.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329184"/>
            <a:ext cx="10058400"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THE RECURRING WORK SHRINKS</a:t>
            </a:r>
          </a:p>
        </p:txBody>
      </p:sp>
      <p:sp>
        <p:nvSpPr>
          <p:cNvPr id="3" name="TextBox 2"/>
          <p:cNvSpPr txBox="1"/>
          <p:nvPr/>
        </p:nvSpPr>
        <p:spPr>
          <a:xfrm>
            <a:off x="1463040" y="758952"/>
            <a:ext cx="10058400" cy="932688"/>
          </a:xfrm>
          <a:prstGeom prst="rect">
            <a:avLst/>
          </a:prstGeom>
          <a:noFill/>
        </p:spPr>
        <p:txBody>
          <a:bodyPr wrap="square" lIns="0" rIns="0" tIns="0" bIns="0">
            <a:spAutoFit/>
          </a:bodyPr>
          <a:lstStyle/>
          <a:p>
            <a:pPr algn="l">
              <a:lnSpc>
                <a:spcPct val="112000"/>
              </a:lnSpc>
              <a:spcAft>
                <a:spcPts val="900"/>
              </a:spcAft>
              <a:defRPr sz="3200" b="1">
                <a:solidFill>
                  <a:srgbClr val="1C4072"/>
                </a:solidFill>
                <a:latin typeface="Arial"/>
              </a:defRPr>
              <a:buNone/>
            </a:pPr>
            <a:r>
              <a:t>When both were right, one read 21.6× fewer tokens.</a:t>
            </a:r>
          </a:p>
        </p:txBody>
      </p:sp>
      <p:sp>
        <p:nvSpPr>
          <p:cNvPr id="4" name="Rectangle 3"/>
          <p:cNvSpPr/>
          <p:nvPr/>
        </p:nvSpPr>
        <p:spPr>
          <a:xfrm>
            <a:off x="1463040" y="6373368"/>
            <a:ext cx="10058400" cy="22860"/>
          </a:xfrm>
          <a:prstGeom prst="rect">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6492240"/>
            <a:ext cx="9509760" cy="182880"/>
          </a:xfrm>
          <a:prstGeom prst="rect">
            <a:avLst/>
          </a:prstGeom>
          <a:noFill/>
        </p:spPr>
        <p:txBody>
          <a:bodyPr wrap="square" lIns="0" rIns="0" tIns="0" bIns="0">
            <a:spAutoFit/>
          </a:bodyPr>
          <a:lstStyle/>
          <a:p>
            <a:pPr algn="l">
              <a:lnSpc>
                <a:spcPct val="112000"/>
              </a:lnSpc>
              <a:spcAft>
                <a:spcPts val="900"/>
              </a:spcAft>
              <a:defRPr sz="900" b="0">
                <a:solidFill>
                  <a:srgbClr val="536378"/>
                </a:solidFill>
                <a:latin typeface="Arial"/>
              </a:defRPr>
              <a:buNone/>
            </a:pPr>
            <a:r>
              <a:t>Table V · simple revisions · DeepSeek V4 Flash · nine questions × five seeds · mean total tokens/question</a:t>
            </a:r>
          </a:p>
        </p:txBody>
      </p:sp>
      <p:sp>
        <p:nvSpPr>
          <p:cNvPr id="6" name="TextBox 5"/>
          <p:cNvSpPr txBox="1"/>
          <p:nvPr/>
        </p:nvSpPr>
        <p:spPr>
          <a:xfrm>
            <a:off x="10972800" y="6492240"/>
            <a:ext cx="548640" cy="182880"/>
          </a:xfrm>
          <a:prstGeom prst="rect">
            <a:avLst/>
          </a:prstGeom>
          <a:noFill/>
        </p:spPr>
        <p:txBody>
          <a:bodyPr wrap="square" lIns="0" rIns="0" tIns="0" bIns="0">
            <a:spAutoFit/>
          </a:bodyPr>
          <a:lstStyle/>
          <a:p>
            <a:pPr algn="r">
              <a:lnSpc>
                <a:spcPct val="112000"/>
              </a:lnSpc>
              <a:spcAft>
                <a:spcPts val="900"/>
              </a:spcAft>
              <a:defRPr sz="1000" b="0">
                <a:solidFill>
                  <a:srgbClr val="536378"/>
                </a:solidFill>
                <a:latin typeface="Arial"/>
              </a:defRPr>
              <a:buNone/>
            </a:pPr>
            <a:r>
              <a:t>9</a:t>
            </a:r>
          </a:p>
        </p:txBody>
      </p:sp>
      <p:sp>
        <p:nvSpPr>
          <p:cNvPr id="7" name="TextBox 6"/>
          <p:cNvSpPr txBox="1"/>
          <p:nvPr/>
        </p:nvSpPr>
        <p:spPr>
          <a:xfrm>
            <a:off x="1463040" y="1792224"/>
            <a:ext cx="10058400" cy="457200"/>
          </a:xfrm>
          <a:prstGeom prst="rect">
            <a:avLst/>
          </a:prstGeom>
          <a:noFill/>
        </p:spPr>
        <p:txBody>
          <a:bodyPr wrap="square" lIns="0" rIns="0" tIns="0" bIns="0">
            <a:spAutoFit/>
          </a:bodyPr>
          <a:lstStyle/>
          <a:p>
            <a:pPr algn="l">
              <a:lnSpc>
                <a:spcPct val="112000"/>
              </a:lnSpc>
              <a:spcAft>
                <a:spcPts val="900"/>
              </a:spcAft>
              <a:defRPr sz="2500" b="0">
                <a:solidFill>
                  <a:srgbClr val="536378"/>
                </a:solidFill>
                <a:latin typeface="Arial"/>
              </a:defRPr>
              <a:buNone/>
            </a:pPr>
            <a:r>
              <a:t>Same correct answers on the simpler revision questions.</a:t>
            </a:r>
          </a:p>
        </p:txBody>
      </p:sp>
      <p:sp>
        <p:nvSpPr>
          <p:cNvPr id="8" name="TextBox 7"/>
          <p:cNvSpPr txBox="1"/>
          <p:nvPr/>
        </p:nvSpPr>
        <p:spPr>
          <a:xfrm>
            <a:off x="1463040" y="2724912"/>
            <a:ext cx="1965960" cy="457200"/>
          </a:xfrm>
          <a:prstGeom prst="rect">
            <a:avLst/>
          </a:prstGeom>
          <a:noFill/>
        </p:spPr>
        <p:txBody>
          <a:bodyPr wrap="square" lIns="0" rIns="0" tIns="0" bIns="0">
            <a:spAutoFit/>
          </a:bodyPr>
          <a:lstStyle/>
          <a:p>
            <a:pPr algn="l">
              <a:lnSpc>
                <a:spcPct val="112000"/>
              </a:lnSpc>
              <a:spcAft>
                <a:spcPts val="900"/>
              </a:spcAft>
              <a:defRPr sz="2200" b="1">
                <a:solidFill>
                  <a:srgbClr val="202B3B"/>
                </a:solidFill>
                <a:latin typeface="Arial"/>
              </a:defRPr>
              <a:buNone/>
            </a:pPr>
            <a:r>
              <a:t>Raw context</a:t>
            </a:r>
          </a:p>
        </p:txBody>
      </p:sp>
      <p:sp>
        <p:nvSpPr>
          <p:cNvPr id="9" name="Rectangle 8"/>
          <p:cNvSpPr/>
          <p:nvPr/>
        </p:nvSpPr>
        <p:spPr>
          <a:xfrm>
            <a:off x="3703320" y="2697480"/>
            <a:ext cx="6309360" cy="512064"/>
          </a:xfrm>
          <a:prstGeom prst="rect">
            <a:avLst/>
          </a:prstGeom>
          <a:solidFill>
            <a:srgbClr val="1C40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22992" y="2724912"/>
            <a:ext cx="1298448" cy="457200"/>
          </a:xfrm>
          <a:prstGeom prst="rect">
            <a:avLst/>
          </a:prstGeom>
          <a:noFill/>
        </p:spPr>
        <p:txBody>
          <a:bodyPr wrap="square" lIns="0" rIns="0" tIns="0" bIns="0">
            <a:spAutoFit/>
          </a:bodyPr>
          <a:lstStyle/>
          <a:p>
            <a:pPr algn="l">
              <a:lnSpc>
                <a:spcPct val="112000"/>
              </a:lnSpc>
              <a:spcAft>
                <a:spcPts val="900"/>
              </a:spcAft>
              <a:defRPr sz="2600" b="1">
                <a:solidFill>
                  <a:srgbClr val="1C4072"/>
                </a:solidFill>
                <a:latin typeface="Arial"/>
              </a:defRPr>
              <a:buNone/>
            </a:pPr>
            <a:r>
              <a:t>9,777</a:t>
            </a:r>
          </a:p>
        </p:txBody>
      </p:sp>
      <p:sp>
        <p:nvSpPr>
          <p:cNvPr id="11" name="TextBox 10"/>
          <p:cNvSpPr txBox="1"/>
          <p:nvPr/>
        </p:nvSpPr>
        <p:spPr>
          <a:xfrm>
            <a:off x="1463040" y="3776472"/>
            <a:ext cx="1965960" cy="457200"/>
          </a:xfrm>
          <a:prstGeom prst="rect">
            <a:avLst/>
          </a:prstGeom>
          <a:noFill/>
        </p:spPr>
        <p:txBody>
          <a:bodyPr wrap="square" lIns="0" rIns="0" tIns="0" bIns="0">
            <a:spAutoFit/>
          </a:bodyPr>
          <a:lstStyle/>
          <a:p>
            <a:pPr algn="l">
              <a:lnSpc>
                <a:spcPct val="112000"/>
              </a:lnSpc>
              <a:spcAft>
                <a:spcPts val="900"/>
              </a:spcAft>
              <a:defRPr sz="2200" b="1">
                <a:solidFill>
                  <a:srgbClr val="202B3B"/>
                </a:solidFill>
                <a:latin typeface="Arial"/>
              </a:defRPr>
              <a:buNone/>
            </a:pPr>
            <a:r>
              <a:t>Resolved row</a:t>
            </a:r>
          </a:p>
        </p:txBody>
      </p:sp>
      <p:sp>
        <p:nvSpPr>
          <p:cNvPr id="12" name="Rectangle 11"/>
          <p:cNvSpPr/>
          <p:nvPr/>
        </p:nvSpPr>
        <p:spPr>
          <a:xfrm>
            <a:off x="3703320" y="3749039"/>
            <a:ext cx="292333" cy="512064"/>
          </a:xfrm>
          <a:prstGeom prst="rect">
            <a:avLst/>
          </a:prstGeom>
          <a:solidFill>
            <a:srgbClr val="3D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22992" y="3776472"/>
            <a:ext cx="1298448" cy="457200"/>
          </a:xfrm>
          <a:prstGeom prst="rect">
            <a:avLst/>
          </a:prstGeom>
          <a:noFill/>
        </p:spPr>
        <p:txBody>
          <a:bodyPr wrap="square" lIns="0" rIns="0" tIns="0" bIns="0">
            <a:spAutoFit/>
          </a:bodyPr>
          <a:lstStyle/>
          <a:p>
            <a:pPr algn="l">
              <a:lnSpc>
                <a:spcPct val="112000"/>
              </a:lnSpc>
              <a:spcAft>
                <a:spcPts val="900"/>
              </a:spcAft>
              <a:defRPr sz="2600" b="1">
                <a:solidFill>
                  <a:srgbClr val="3D6B35"/>
                </a:solidFill>
                <a:latin typeface="Arial"/>
              </a:defRPr>
              <a:buNone/>
            </a:pPr>
            <a:r>
              <a:t>453</a:t>
            </a:r>
          </a:p>
        </p:txBody>
      </p:sp>
      <p:sp>
        <p:nvSpPr>
          <p:cNvPr id="14" name="TextBox 13"/>
          <p:cNvSpPr txBox="1"/>
          <p:nvPr/>
        </p:nvSpPr>
        <p:spPr>
          <a:xfrm>
            <a:off x="1463040" y="4892040"/>
            <a:ext cx="6309360" cy="1097280"/>
          </a:xfrm>
          <a:prstGeom prst="rect">
            <a:avLst/>
          </a:prstGeom>
          <a:noFill/>
        </p:spPr>
        <p:txBody>
          <a:bodyPr wrap="square" lIns="0" rIns="0" tIns="0" bIns="0">
            <a:spAutoFit/>
          </a:bodyPr>
          <a:lstStyle/>
          <a:p>
            <a:pPr algn="l">
              <a:lnSpc>
                <a:spcPct val="112000"/>
              </a:lnSpc>
              <a:spcAft>
                <a:spcPts val="900"/>
              </a:spcAft>
              <a:defRPr sz="2700" b="1">
                <a:solidFill>
                  <a:srgbClr val="1C4072"/>
                </a:solidFill>
                <a:latin typeface="Arial"/>
              </a:defRPr>
              <a:buNone/>
            </a:pPr>
            <a:r>
              <a:t>Less to reconstruct.</a:t>
            </a:r>
          </a:p>
          <a:p>
            <a:pPr algn="l">
              <a:lnSpc>
                <a:spcPct val="112000"/>
              </a:lnSpc>
              <a:spcAft>
                <a:spcPts val="900"/>
              </a:spcAft>
              <a:defRPr sz="2700" b="1">
                <a:solidFill>
                  <a:srgbClr val="1C4072"/>
                </a:solidFill>
                <a:latin typeface="Arial"/>
              </a:defRPr>
              <a:buNone/>
            </a:pPr>
            <a:r>
              <a:t>Less to pay for on every read.</a:t>
            </a:r>
          </a:p>
        </p:txBody>
      </p:sp>
      <p:sp>
        <p:nvSpPr>
          <p:cNvPr id="15" name="TextBox 14"/>
          <p:cNvSpPr txBox="1"/>
          <p:nvPr/>
        </p:nvSpPr>
        <p:spPr>
          <a:xfrm>
            <a:off x="8503920" y="4983480"/>
            <a:ext cx="3017520" cy="868680"/>
          </a:xfrm>
          <a:prstGeom prst="rect">
            <a:avLst/>
          </a:prstGeom>
          <a:noFill/>
        </p:spPr>
        <p:txBody>
          <a:bodyPr wrap="square" lIns="0" rIns="0" tIns="0" bIns="0">
            <a:spAutoFit/>
          </a:bodyPr>
          <a:lstStyle/>
          <a:p>
            <a:pPr algn="l">
              <a:lnSpc>
                <a:spcPct val="112000"/>
              </a:lnSpc>
              <a:spcAft>
                <a:spcPts val="900"/>
              </a:spcAft>
              <a:defRPr sz="2300" b="1">
                <a:solidFill>
                  <a:srgbClr val="3D6B35"/>
                </a:solidFill>
                <a:latin typeface="Arial"/>
              </a:defRPr>
              <a:buNone/>
            </a:pPr>
            <a:r>
              <a:t>14.21×</a:t>
            </a:r>
          </a:p>
          <a:p>
            <a:pPr algn="l">
              <a:lnSpc>
                <a:spcPct val="112000"/>
              </a:lnSpc>
              <a:spcAft>
                <a:spcPts val="900"/>
              </a:spcAft>
              <a:defRPr sz="2300" b="1">
                <a:solidFill>
                  <a:srgbClr val="3D6B35"/>
                </a:solidFill>
                <a:latin typeface="Arial"/>
              </a:defRPr>
              <a:buNone/>
            </a:pPr>
            <a:r>
              <a:t>lower mean read cost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329184"/>
            <a:ext cx="10058400"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HUMAN DIALOGUE VS. WIKIPEDIA</a:t>
            </a:r>
          </a:p>
        </p:txBody>
      </p:sp>
      <p:sp>
        <p:nvSpPr>
          <p:cNvPr id="3" name="TextBox 2"/>
          <p:cNvSpPr txBox="1"/>
          <p:nvPr/>
        </p:nvSpPr>
        <p:spPr>
          <a:xfrm>
            <a:off x="1463040" y="758952"/>
            <a:ext cx="10058400" cy="932688"/>
          </a:xfrm>
          <a:prstGeom prst="rect">
            <a:avLst/>
          </a:prstGeom>
          <a:noFill/>
        </p:spPr>
        <p:txBody>
          <a:bodyPr wrap="square" lIns="0" rIns="0" tIns="0" bIns="0">
            <a:spAutoFit/>
          </a:bodyPr>
          <a:lstStyle/>
          <a:p>
            <a:pPr algn="l">
              <a:lnSpc>
                <a:spcPct val="112000"/>
              </a:lnSpc>
              <a:spcAft>
                <a:spcPts val="900"/>
              </a:spcAft>
              <a:defRPr sz="3200" b="1">
                <a:solidFill>
                  <a:srgbClr val="1C4072"/>
                </a:solidFill>
                <a:latin typeface="Arial"/>
              </a:defRPr>
              <a:buNone/>
            </a:pPr>
            <a:r>
              <a:t>Not every corpus is equal.</a:t>
            </a:r>
          </a:p>
        </p:txBody>
      </p:sp>
      <p:sp>
        <p:nvSpPr>
          <p:cNvPr id="4" name="Rectangle 3"/>
          <p:cNvSpPr/>
          <p:nvPr/>
        </p:nvSpPr>
        <p:spPr>
          <a:xfrm>
            <a:off x="1463040" y="6373368"/>
            <a:ext cx="10058400" cy="22860"/>
          </a:xfrm>
          <a:prstGeom prst="rect">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6492240"/>
            <a:ext cx="9509760" cy="182880"/>
          </a:xfrm>
          <a:prstGeom prst="rect">
            <a:avLst/>
          </a:prstGeom>
          <a:noFill/>
        </p:spPr>
        <p:txBody>
          <a:bodyPr wrap="square" lIns="0" rIns="0" tIns="0" bIns="0">
            <a:spAutoFit/>
          </a:bodyPr>
          <a:lstStyle/>
          <a:p>
            <a:pPr algn="l">
              <a:lnSpc>
                <a:spcPct val="112000"/>
              </a:lnSpc>
              <a:spcAft>
                <a:spcPts val="900"/>
              </a:spcAft>
              <a:defRPr sz="900" b="0">
                <a:solidFill>
                  <a:srgbClr val="536378"/>
                </a:solidFill>
                <a:latin typeface="Arial"/>
              </a:defRPr>
              <a:buNone/>
            </a:pPr>
            <a:r>
              <a:t>Table II · 25 Federal Reserve dialogue passages; 30 Wikipedia passages · aggregate token ratios</a:t>
            </a:r>
          </a:p>
        </p:txBody>
      </p:sp>
      <p:sp>
        <p:nvSpPr>
          <p:cNvPr id="6" name="TextBox 5"/>
          <p:cNvSpPr txBox="1"/>
          <p:nvPr/>
        </p:nvSpPr>
        <p:spPr>
          <a:xfrm>
            <a:off x="10972800" y="6492240"/>
            <a:ext cx="548640" cy="182880"/>
          </a:xfrm>
          <a:prstGeom prst="rect">
            <a:avLst/>
          </a:prstGeom>
          <a:noFill/>
        </p:spPr>
        <p:txBody>
          <a:bodyPr wrap="square" lIns="0" rIns="0" tIns="0" bIns="0">
            <a:spAutoFit/>
          </a:bodyPr>
          <a:lstStyle/>
          <a:p>
            <a:pPr algn="r">
              <a:lnSpc>
                <a:spcPct val="112000"/>
              </a:lnSpc>
              <a:spcAft>
                <a:spcPts val="900"/>
              </a:spcAft>
              <a:defRPr sz="1000" b="0">
                <a:solidFill>
                  <a:srgbClr val="536378"/>
                </a:solidFill>
                <a:latin typeface="Arial"/>
              </a:defRPr>
              <a:buNone/>
            </a:pPr>
            <a:r>
              <a:t>10</a:t>
            </a:r>
          </a:p>
        </p:txBody>
      </p:sp>
      <p:sp>
        <p:nvSpPr>
          <p:cNvPr id="7" name="TextBox 6"/>
          <p:cNvSpPr txBox="1"/>
          <p:nvPr/>
        </p:nvSpPr>
        <p:spPr>
          <a:xfrm>
            <a:off x="1463040" y="1828800"/>
            <a:ext cx="4709160" cy="329184"/>
          </a:xfrm>
          <a:prstGeom prst="rect">
            <a:avLst/>
          </a:prstGeom>
          <a:noFill/>
        </p:spPr>
        <p:txBody>
          <a:bodyPr wrap="square" lIns="0" rIns="0" tIns="0" bIns="0">
            <a:spAutoFit/>
          </a:bodyPr>
          <a:lstStyle/>
          <a:p>
            <a:pPr algn="l">
              <a:lnSpc>
                <a:spcPct val="112000"/>
              </a:lnSpc>
              <a:spcAft>
                <a:spcPts val="900"/>
              </a:spcAft>
              <a:defRPr sz="1700" b="1">
                <a:solidFill>
                  <a:srgbClr val="1C4072"/>
                </a:solidFill>
                <a:latin typeface="Arial"/>
              </a:defRPr>
              <a:buNone/>
            </a:pPr>
            <a:r>
              <a:t>HUMAN DIALOGUE</a:t>
            </a:r>
          </a:p>
        </p:txBody>
      </p:sp>
      <p:sp>
        <p:nvSpPr>
          <p:cNvPr id="8" name="TextBox 7"/>
          <p:cNvSpPr txBox="1"/>
          <p:nvPr/>
        </p:nvSpPr>
        <p:spPr>
          <a:xfrm>
            <a:off x="1463040" y="2221992"/>
            <a:ext cx="4709160" cy="320040"/>
          </a:xfrm>
          <a:prstGeom prst="rect">
            <a:avLst/>
          </a:prstGeom>
          <a:noFill/>
        </p:spPr>
        <p:txBody>
          <a:bodyPr wrap="square" lIns="0" rIns="0" tIns="0" bIns="0">
            <a:spAutoFit/>
          </a:bodyPr>
          <a:lstStyle/>
          <a:p>
            <a:pPr algn="l">
              <a:lnSpc>
                <a:spcPct val="112000"/>
              </a:lnSpc>
              <a:spcAft>
                <a:spcPts val="900"/>
              </a:spcAft>
              <a:defRPr sz="1700" b="0">
                <a:solidFill>
                  <a:srgbClr val="536378"/>
                </a:solidFill>
                <a:latin typeface="Arial"/>
              </a:defRPr>
              <a:buNone/>
            </a:pPr>
            <a:r>
              <a:t>Federal Reserve Q&amp;A · 25 passages</a:t>
            </a:r>
          </a:p>
        </p:txBody>
      </p:sp>
      <p:sp>
        <p:nvSpPr>
          <p:cNvPr id="9" name="TextBox 8"/>
          <p:cNvSpPr txBox="1"/>
          <p:nvPr/>
        </p:nvSpPr>
        <p:spPr>
          <a:xfrm>
            <a:off x="1463040" y="2706624"/>
            <a:ext cx="4709160" cy="749808"/>
          </a:xfrm>
          <a:prstGeom prst="rect">
            <a:avLst/>
          </a:prstGeom>
          <a:noFill/>
        </p:spPr>
        <p:txBody>
          <a:bodyPr wrap="square" lIns="0" rIns="0" tIns="0" bIns="0">
            <a:spAutoFit/>
          </a:bodyPr>
          <a:lstStyle/>
          <a:p>
            <a:pPr algn="l">
              <a:lnSpc>
                <a:spcPct val="112000"/>
              </a:lnSpc>
              <a:spcAft>
                <a:spcPts val="900"/>
              </a:spcAft>
              <a:defRPr sz="4900" b="1">
                <a:solidFill>
                  <a:srgbClr val="1C4072"/>
                </a:solidFill>
                <a:latin typeface="Arial"/>
              </a:defRPr>
              <a:buNone/>
            </a:pPr>
            <a:r>
              <a:t>49%</a:t>
            </a:r>
          </a:p>
        </p:txBody>
      </p:sp>
      <p:sp>
        <p:nvSpPr>
          <p:cNvPr id="10" name="TextBox 9"/>
          <p:cNvSpPr txBox="1"/>
          <p:nvPr/>
        </p:nvSpPr>
        <p:spPr>
          <a:xfrm>
            <a:off x="1463040" y="3529584"/>
            <a:ext cx="4709160" cy="457200"/>
          </a:xfrm>
          <a:prstGeom prst="rect">
            <a:avLst/>
          </a:prstGeom>
          <a:noFill/>
        </p:spPr>
        <p:txBody>
          <a:bodyPr wrap="square" lIns="0" rIns="0" tIns="0" bIns="0">
            <a:spAutoFit/>
          </a:bodyPr>
          <a:lstStyle/>
          <a:p>
            <a:pPr algn="l">
              <a:lnSpc>
                <a:spcPct val="112000"/>
              </a:lnSpc>
              <a:spcAft>
                <a:spcPts val="900"/>
              </a:spcAft>
              <a:defRPr sz="2100" b="0">
                <a:solidFill>
                  <a:srgbClr val="536378"/>
                </a:solidFill>
                <a:latin typeface="Arial"/>
              </a:defRPr>
              <a:buNone/>
            </a:pPr>
            <a:r>
              <a:t>of original tokens after extraction</a:t>
            </a:r>
          </a:p>
        </p:txBody>
      </p:sp>
      <p:sp>
        <p:nvSpPr>
          <p:cNvPr id="11" name="Rectangle 10"/>
          <p:cNvSpPr/>
          <p:nvPr/>
        </p:nvSpPr>
        <p:spPr>
          <a:xfrm>
            <a:off x="1463040" y="4142232"/>
            <a:ext cx="4023360" cy="182880"/>
          </a:xfrm>
          <a:prstGeom prst="rect">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463040" y="4507992"/>
            <a:ext cx="1971446" cy="338328"/>
          </a:xfrm>
          <a:prstGeom prst="rect">
            <a:avLst/>
          </a:prstGeom>
          <a:solidFill>
            <a:srgbClr val="3D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63040" y="5111496"/>
            <a:ext cx="4709160" cy="804672"/>
          </a:xfrm>
          <a:prstGeom prst="rect">
            <a:avLst/>
          </a:prstGeom>
          <a:noFill/>
        </p:spPr>
        <p:txBody>
          <a:bodyPr wrap="square" lIns="0" rIns="0" tIns="0" bIns="0">
            <a:spAutoFit/>
          </a:bodyPr>
          <a:lstStyle/>
          <a:p>
            <a:pPr algn="l">
              <a:lnSpc>
                <a:spcPct val="112000"/>
              </a:lnSpc>
              <a:spcAft>
                <a:spcPts val="900"/>
              </a:spcAft>
              <a:defRPr sz="2100" b="0">
                <a:solidFill>
                  <a:srgbClr val="202B3B"/>
                </a:solidFill>
                <a:latin typeface="Arial"/>
              </a:defRPr>
              <a:buNone/>
            </a:pPr>
            <a:r>
              <a:t>Speech leaves repetition,</a:t>
            </a:r>
          </a:p>
          <a:p>
            <a:pPr algn="l">
              <a:lnSpc>
                <a:spcPct val="112000"/>
              </a:lnSpc>
              <a:spcAft>
                <a:spcPts val="900"/>
              </a:spcAft>
              <a:defRPr sz="2100" b="0">
                <a:solidFill>
                  <a:srgbClr val="202B3B"/>
                </a:solidFill>
                <a:latin typeface="Arial"/>
              </a:defRPr>
              <a:buNone/>
            </a:pPr>
            <a:r>
              <a:t>fillers and implied context.</a:t>
            </a:r>
          </a:p>
        </p:txBody>
      </p:sp>
      <p:sp>
        <p:nvSpPr>
          <p:cNvPr id="14" name="TextBox 13"/>
          <p:cNvSpPr txBox="1"/>
          <p:nvPr/>
        </p:nvSpPr>
        <p:spPr>
          <a:xfrm>
            <a:off x="6812280" y="1828800"/>
            <a:ext cx="4709160" cy="329184"/>
          </a:xfrm>
          <a:prstGeom prst="rect">
            <a:avLst/>
          </a:prstGeom>
          <a:noFill/>
        </p:spPr>
        <p:txBody>
          <a:bodyPr wrap="square" lIns="0" rIns="0" tIns="0" bIns="0">
            <a:spAutoFit/>
          </a:bodyPr>
          <a:lstStyle/>
          <a:p>
            <a:pPr algn="l">
              <a:lnSpc>
                <a:spcPct val="112000"/>
              </a:lnSpc>
              <a:spcAft>
                <a:spcPts val="900"/>
              </a:spcAft>
              <a:defRPr sz="1700" b="1">
                <a:solidFill>
                  <a:srgbClr val="1C4072"/>
                </a:solidFill>
                <a:latin typeface="Arial"/>
              </a:defRPr>
              <a:buNone/>
            </a:pPr>
            <a:r>
              <a:t>WIKIPEDIA CONTENT</a:t>
            </a:r>
          </a:p>
        </p:txBody>
      </p:sp>
      <p:sp>
        <p:nvSpPr>
          <p:cNvPr id="15" name="TextBox 14"/>
          <p:cNvSpPr txBox="1"/>
          <p:nvPr/>
        </p:nvSpPr>
        <p:spPr>
          <a:xfrm>
            <a:off x="6812280" y="2221992"/>
            <a:ext cx="4709160" cy="320040"/>
          </a:xfrm>
          <a:prstGeom prst="rect">
            <a:avLst/>
          </a:prstGeom>
          <a:noFill/>
        </p:spPr>
        <p:txBody>
          <a:bodyPr wrap="square" lIns="0" rIns="0" tIns="0" bIns="0">
            <a:spAutoFit/>
          </a:bodyPr>
          <a:lstStyle/>
          <a:p>
            <a:pPr algn="l">
              <a:lnSpc>
                <a:spcPct val="112000"/>
              </a:lnSpc>
              <a:spcAft>
                <a:spcPts val="900"/>
              </a:spcAft>
              <a:defRPr sz="1700" b="0">
                <a:solidFill>
                  <a:srgbClr val="536378"/>
                </a:solidFill>
                <a:latin typeface="Arial"/>
              </a:defRPr>
              <a:buNone/>
            </a:pPr>
            <a:r>
              <a:t>Encyclopedic articles · 30 passages</a:t>
            </a:r>
          </a:p>
        </p:txBody>
      </p:sp>
      <p:sp>
        <p:nvSpPr>
          <p:cNvPr id="16" name="TextBox 15"/>
          <p:cNvSpPr txBox="1"/>
          <p:nvPr/>
        </p:nvSpPr>
        <p:spPr>
          <a:xfrm>
            <a:off x="6812280" y="2706624"/>
            <a:ext cx="4709160" cy="749808"/>
          </a:xfrm>
          <a:prstGeom prst="rect">
            <a:avLst/>
          </a:prstGeom>
          <a:noFill/>
        </p:spPr>
        <p:txBody>
          <a:bodyPr wrap="square" lIns="0" rIns="0" tIns="0" bIns="0">
            <a:spAutoFit/>
          </a:bodyPr>
          <a:lstStyle/>
          <a:p>
            <a:pPr algn="l">
              <a:lnSpc>
                <a:spcPct val="112000"/>
              </a:lnSpc>
              <a:spcAft>
                <a:spcPts val="900"/>
              </a:spcAft>
              <a:defRPr sz="4900" b="1">
                <a:solidFill>
                  <a:srgbClr val="1C4072"/>
                </a:solidFill>
                <a:latin typeface="Arial"/>
              </a:defRPr>
              <a:buNone/>
            </a:pPr>
            <a:r>
              <a:t>103%</a:t>
            </a:r>
          </a:p>
        </p:txBody>
      </p:sp>
      <p:sp>
        <p:nvSpPr>
          <p:cNvPr id="17" name="TextBox 16"/>
          <p:cNvSpPr txBox="1"/>
          <p:nvPr/>
        </p:nvSpPr>
        <p:spPr>
          <a:xfrm>
            <a:off x="6812280" y="3529584"/>
            <a:ext cx="4709160" cy="457200"/>
          </a:xfrm>
          <a:prstGeom prst="rect">
            <a:avLst/>
          </a:prstGeom>
          <a:noFill/>
        </p:spPr>
        <p:txBody>
          <a:bodyPr wrap="square" lIns="0" rIns="0" tIns="0" bIns="0">
            <a:spAutoFit/>
          </a:bodyPr>
          <a:lstStyle/>
          <a:p>
            <a:pPr algn="l">
              <a:lnSpc>
                <a:spcPct val="112000"/>
              </a:lnSpc>
              <a:spcAft>
                <a:spcPts val="900"/>
              </a:spcAft>
              <a:defRPr sz="2100" b="0">
                <a:solidFill>
                  <a:srgbClr val="536378"/>
                </a:solidFill>
                <a:latin typeface="Arial"/>
              </a:defRPr>
              <a:buNone/>
            </a:pPr>
            <a:r>
              <a:t>of original tokens after extraction</a:t>
            </a:r>
          </a:p>
        </p:txBody>
      </p:sp>
      <p:sp>
        <p:nvSpPr>
          <p:cNvPr id="18" name="Rectangle 17"/>
          <p:cNvSpPr/>
          <p:nvPr/>
        </p:nvSpPr>
        <p:spPr>
          <a:xfrm>
            <a:off x="6812280" y="4142232"/>
            <a:ext cx="4023360" cy="182880"/>
          </a:xfrm>
          <a:prstGeom prst="rect">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12280" y="4507992"/>
            <a:ext cx="4144060" cy="338328"/>
          </a:xfrm>
          <a:prstGeom prst="rect">
            <a:avLst/>
          </a:prstGeom>
          <a:solidFill>
            <a:srgbClr val="1C40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12280" y="5111496"/>
            <a:ext cx="4709160" cy="804672"/>
          </a:xfrm>
          <a:prstGeom prst="rect">
            <a:avLst/>
          </a:prstGeom>
          <a:noFill/>
        </p:spPr>
        <p:txBody>
          <a:bodyPr wrap="square" lIns="0" rIns="0" tIns="0" bIns="0">
            <a:spAutoFit/>
          </a:bodyPr>
          <a:lstStyle/>
          <a:p>
            <a:pPr algn="l">
              <a:lnSpc>
                <a:spcPct val="112000"/>
              </a:lnSpc>
              <a:spcAft>
                <a:spcPts val="900"/>
              </a:spcAft>
              <a:defRPr sz="2100" b="0">
                <a:solidFill>
                  <a:srgbClr val="202B3B"/>
                </a:solidFill>
                <a:latin typeface="Arial"/>
              </a:defRPr>
              <a:buNone/>
            </a:pPr>
            <a:r>
              <a:t>Already “compiled” by human editors:</a:t>
            </a:r>
          </a:p>
          <a:p>
            <a:pPr algn="l">
              <a:lnSpc>
                <a:spcPct val="112000"/>
              </a:lnSpc>
              <a:spcAft>
                <a:spcPts val="900"/>
              </a:spcAft>
              <a:defRPr sz="2100" b="0">
                <a:solidFill>
                  <a:srgbClr val="202B3B"/>
                </a:solidFill>
                <a:latin typeface="Arial"/>
              </a:defRPr>
              <a:buNone/>
            </a:pPr>
            <a:r>
              <a:t>less fluff, clearer language.</a:t>
            </a:r>
          </a:p>
        </p:txBody>
      </p:sp>
      <p:sp>
        <p:nvSpPr>
          <p:cNvPr id="21" name="TextBox 20"/>
          <p:cNvSpPr txBox="1"/>
          <p:nvPr/>
        </p:nvSpPr>
        <p:spPr>
          <a:xfrm>
            <a:off x="1463040" y="6062472"/>
            <a:ext cx="10058400" cy="219456"/>
          </a:xfrm>
          <a:prstGeom prst="rect">
            <a:avLst/>
          </a:prstGeom>
          <a:noFill/>
        </p:spPr>
        <p:txBody>
          <a:bodyPr wrap="square" lIns="0" rIns="0" tIns="0" bIns="0">
            <a:spAutoFit/>
          </a:bodyPr>
          <a:lstStyle/>
          <a:p>
            <a:pPr algn="l">
              <a:lnSpc>
                <a:spcPct val="112000"/>
              </a:lnSpc>
              <a:spcAft>
                <a:spcPts val="900"/>
              </a:spcAft>
              <a:defRPr sz="1400" b="0">
                <a:solidFill>
                  <a:srgbClr val="536378"/>
                </a:solidFill>
                <a:latin typeface="Arial"/>
              </a:defRPr>
              <a:buNone/>
            </a:pPr>
            <a:r>
              <a:t>Gray: source text. Color: extracted facts. Editorial explanation is an interpretation.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329184"/>
            <a:ext cx="10058400"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A REAL FAILURE TO LEARN FROM</a:t>
            </a:r>
          </a:p>
        </p:txBody>
      </p:sp>
      <p:sp>
        <p:nvSpPr>
          <p:cNvPr id="3" name="TextBox 2"/>
          <p:cNvSpPr txBox="1"/>
          <p:nvPr/>
        </p:nvSpPr>
        <p:spPr>
          <a:xfrm>
            <a:off x="1463040" y="758952"/>
            <a:ext cx="10058400" cy="932688"/>
          </a:xfrm>
          <a:prstGeom prst="rect">
            <a:avLst/>
          </a:prstGeom>
          <a:noFill/>
        </p:spPr>
        <p:txBody>
          <a:bodyPr wrap="square" lIns="0" rIns="0" tIns="0" bIns="0">
            <a:spAutoFit/>
          </a:bodyPr>
          <a:lstStyle/>
          <a:p>
            <a:pPr algn="l">
              <a:lnSpc>
                <a:spcPct val="112000"/>
              </a:lnSpc>
              <a:spcAft>
                <a:spcPts val="900"/>
              </a:spcAft>
              <a:defRPr sz="3200" b="1">
                <a:solidFill>
                  <a:srgbClr val="1C4072"/>
                </a:solidFill>
                <a:latin typeface="Arial"/>
              </a:defRPr>
              <a:buNone/>
            </a:pPr>
            <a:r>
              <a:t>Shorter can still leave out the point.</a:t>
            </a:r>
          </a:p>
        </p:txBody>
      </p:sp>
      <p:sp>
        <p:nvSpPr>
          <p:cNvPr id="4" name="Rectangle 3"/>
          <p:cNvSpPr/>
          <p:nvPr/>
        </p:nvSpPr>
        <p:spPr>
          <a:xfrm>
            <a:off x="1463040" y="6373368"/>
            <a:ext cx="10058400" cy="22860"/>
          </a:xfrm>
          <a:prstGeom prst="rect">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6492240"/>
            <a:ext cx="9509760" cy="182880"/>
          </a:xfrm>
          <a:prstGeom prst="rect">
            <a:avLst/>
          </a:prstGeom>
          <a:noFill/>
        </p:spPr>
        <p:txBody>
          <a:bodyPr wrap="square" lIns="0" rIns="0" tIns="0" bIns="0">
            <a:spAutoFit/>
          </a:bodyPr>
          <a:lstStyle/>
          <a:p>
            <a:pPr algn="l">
              <a:lnSpc>
                <a:spcPct val="112000"/>
              </a:lnSpc>
              <a:spcAft>
                <a:spcPts val="900"/>
              </a:spcAft>
              <a:defRPr sz="900" b="0">
                <a:solidFill>
                  <a:srgbClr val="536378"/>
                </a:solidFill>
                <a:latin typeface="Arial"/>
              </a:defRPr>
              <a:buNone/>
            </a:pPr>
            <a:r>
              <a:t>S2 passage fed_dialogue:20260429:4 · source excerpt and two actual outputs; omission flagged by automatic judge</a:t>
            </a:r>
          </a:p>
        </p:txBody>
      </p:sp>
      <p:sp>
        <p:nvSpPr>
          <p:cNvPr id="6" name="TextBox 5"/>
          <p:cNvSpPr txBox="1"/>
          <p:nvPr/>
        </p:nvSpPr>
        <p:spPr>
          <a:xfrm>
            <a:off x="10972800" y="6492240"/>
            <a:ext cx="548640" cy="182880"/>
          </a:xfrm>
          <a:prstGeom prst="rect">
            <a:avLst/>
          </a:prstGeom>
          <a:noFill/>
        </p:spPr>
        <p:txBody>
          <a:bodyPr wrap="square" lIns="0" rIns="0" tIns="0" bIns="0">
            <a:spAutoFit/>
          </a:bodyPr>
          <a:lstStyle/>
          <a:p>
            <a:pPr algn="r">
              <a:lnSpc>
                <a:spcPct val="112000"/>
              </a:lnSpc>
              <a:spcAft>
                <a:spcPts val="900"/>
              </a:spcAft>
              <a:defRPr sz="1000" b="0">
                <a:solidFill>
                  <a:srgbClr val="536378"/>
                </a:solidFill>
                <a:latin typeface="Arial"/>
              </a:defRPr>
              <a:buNone/>
            </a:pPr>
            <a:r>
              <a:t>11</a:t>
            </a:r>
          </a:p>
        </p:txBody>
      </p:sp>
      <p:sp>
        <p:nvSpPr>
          <p:cNvPr id="7" name="Rectangle 6"/>
          <p:cNvSpPr/>
          <p:nvPr/>
        </p:nvSpPr>
        <p:spPr>
          <a:xfrm>
            <a:off x="1463040" y="1874519"/>
            <a:ext cx="4709160" cy="27889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64208" y="2039112"/>
            <a:ext cx="4306824"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SOURCE  /  NICK TIMIRAOS</a:t>
            </a:r>
          </a:p>
        </p:txBody>
      </p:sp>
      <p:sp>
        <p:nvSpPr>
          <p:cNvPr id="9" name="TextBox 8"/>
          <p:cNvSpPr txBox="1"/>
          <p:nvPr/>
        </p:nvSpPr>
        <p:spPr>
          <a:xfrm>
            <a:off x="1664208" y="2514600"/>
            <a:ext cx="4306824" cy="2011679"/>
          </a:xfrm>
          <a:prstGeom prst="rect">
            <a:avLst/>
          </a:prstGeom>
          <a:noFill/>
        </p:spPr>
        <p:txBody>
          <a:bodyPr wrap="square" lIns="0" rIns="0" tIns="0" bIns="0">
            <a:spAutoFit/>
          </a:bodyPr>
          <a:lstStyle/>
          <a:p>
            <a:pPr algn="l">
              <a:lnSpc>
                <a:spcPct val="112000"/>
              </a:lnSpc>
              <a:spcAft>
                <a:spcPts val="900"/>
              </a:spcAft>
              <a:defRPr sz="2400" b="0">
                <a:solidFill>
                  <a:srgbClr val="202B3B"/>
                </a:solidFill>
                <a:latin typeface="Arial"/>
              </a:defRPr>
              <a:buNone/>
            </a:pPr>
            <a:r>
              <a:t>“The statement today preserves language that has taken on some meaning, as it was socialized when the Committee was actively lowering rates.”</a:t>
            </a:r>
          </a:p>
        </p:txBody>
      </p:sp>
      <p:sp>
        <p:nvSpPr>
          <p:cNvPr id="10" name="Rectangle 9"/>
          <p:cNvSpPr/>
          <p:nvPr/>
        </p:nvSpPr>
        <p:spPr>
          <a:xfrm>
            <a:off x="6812280" y="1874519"/>
            <a:ext cx="4709160" cy="2788920"/>
          </a:xfrm>
          <a:prstGeom prst="rect">
            <a:avLst/>
          </a:prstGeom>
          <a:solidFill>
            <a:srgbClr val="E9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22592" y="2039112"/>
            <a:ext cx="4297680"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2 OF 6 GENERATED FACTS</a:t>
            </a:r>
          </a:p>
        </p:txBody>
      </p:sp>
      <p:sp>
        <p:nvSpPr>
          <p:cNvPr id="12" name="TextBox 11"/>
          <p:cNvSpPr txBox="1"/>
          <p:nvPr/>
        </p:nvSpPr>
        <p:spPr>
          <a:xfrm>
            <a:off x="7022592" y="2633472"/>
            <a:ext cx="4297680" cy="1554480"/>
          </a:xfrm>
          <a:prstGeom prst="rect">
            <a:avLst/>
          </a:prstGeom>
          <a:noFill/>
        </p:spPr>
        <p:txBody>
          <a:bodyPr wrap="square" lIns="0" rIns="0" tIns="0" bIns="0">
            <a:spAutoFit/>
          </a:bodyPr>
          <a:lstStyle/>
          <a:p>
            <a:pPr algn="l">
              <a:lnSpc>
                <a:spcPct val="112000"/>
              </a:lnSpc>
              <a:spcAft>
                <a:spcPts val="900"/>
              </a:spcAft>
              <a:defRPr sz="2700" b="0">
                <a:solidFill>
                  <a:srgbClr val="202B3B"/>
                </a:solidFill>
                <a:latin typeface="Arial"/>
              </a:defRPr>
              <a:buNone/>
            </a:pPr>
            <a:r>
              <a:t>Core inflation is at 3.2 percent.</a:t>
            </a:r>
          </a:p>
          <a:p>
            <a:pPr algn="l">
              <a:lnSpc>
                <a:spcPct val="112000"/>
              </a:lnSpc>
              <a:spcAft>
                <a:spcPts val="900"/>
              </a:spcAft>
              <a:defRPr sz="2700" b="0">
                <a:solidFill>
                  <a:srgbClr val="202B3B"/>
                </a:solidFill>
                <a:latin typeface="Arial"/>
              </a:defRPr>
              <a:buNone/>
            </a:pPr>
            <a:r>
              <a:t>The Committee needs to see more data.</a:t>
            </a:r>
          </a:p>
        </p:txBody>
      </p:sp>
      <p:sp>
        <p:nvSpPr>
          <p:cNvPr id="13" name="TextBox 12"/>
          <p:cNvSpPr txBox="1"/>
          <p:nvPr/>
        </p:nvSpPr>
        <p:spPr>
          <a:xfrm>
            <a:off x="1463040" y="4919472"/>
            <a:ext cx="10058400" cy="548640"/>
          </a:xfrm>
          <a:prstGeom prst="rect">
            <a:avLst/>
          </a:prstGeom>
          <a:noFill/>
        </p:spPr>
        <p:txBody>
          <a:bodyPr wrap="square" lIns="0" rIns="0" tIns="0" bIns="0">
            <a:spAutoFit/>
          </a:bodyPr>
          <a:lstStyle/>
          <a:p>
            <a:pPr algn="l">
              <a:lnSpc>
                <a:spcPct val="112000"/>
              </a:lnSpc>
              <a:spcAft>
                <a:spcPts val="900"/>
              </a:spcAft>
              <a:defRPr sz="2900" b="1">
                <a:solidFill>
                  <a:srgbClr val="1C4072"/>
                </a:solidFill>
                <a:latin typeface="Arial"/>
              </a:defRPr>
              <a:buNone/>
            </a:pPr>
            <a:r>
              <a:t>But did the statement’s language actually change?</a:t>
            </a:r>
          </a:p>
        </p:txBody>
      </p:sp>
      <p:sp>
        <p:nvSpPr>
          <p:cNvPr id="14" name="TextBox 13"/>
          <p:cNvSpPr txBox="1"/>
          <p:nvPr/>
        </p:nvSpPr>
        <p:spPr>
          <a:xfrm>
            <a:off x="1463040" y="5650992"/>
            <a:ext cx="10058400" cy="502920"/>
          </a:xfrm>
          <a:prstGeom prst="rect">
            <a:avLst/>
          </a:prstGeom>
          <a:noFill/>
        </p:spPr>
        <p:txBody>
          <a:bodyPr wrap="square" lIns="0" rIns="0" tIns="0" bIns="0">
            <a:spAutoFit/>
          </a:bodyPr>
          <a:lstStyle/>
          <a:p>
            <a:pPr algn="l">
              <a:lnSpc>
                <a:spcPct val="112000"/>
              </a:lnSpc>
              <a:spcAft>
                <a:spcPts val="900"/>
              </a:spcAft>
              <a:defRPr sz="2200" b="1">
                <a:solidFill>
                  <a:srgbClr val="964536"/>
                </a:solidFill>
                <a:latin typeface="Arial"/>
              </a:defRPr>
              <a:buNone/>
            </a:pPr>
            <a:r>
              <a:t>The full six-fact output lost the unchanged-language claim.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329184"/>
            <a:ext cx="10058400"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TAKEAWAY</a:t>
            </a:r>
          </a:p>
        </p:txBody>
      </p:sp>
      <p:sp>
        <p:nvSpPr>
          <p:cNvPr id="3" name="TextBox 2"/>
          <p:cNvSpPr txBox="1"/>
          <p:nvPr/>
        </p:nvSpPr>
        <p:spPr>
          <a:xfrm>
            <a:off x="1463040" y="758952"/>
            <a:ext cx="10058400" cy="932688"/>
          </a:xfrm>
          <a:prstGeom prst="rect">
            <a:avLst/>
          </a:prstGeom>
          <a:noFill/>
        </p:spPr>
        <p:txBody>
          <a:bodyPr wrap="square" lIns="0" rIns="0" tIns="0" bIns="0">
            <a:spAutoFit/>
          </a:bodyPr>
          <a:lstStyle/>
          <a:p>
            <a:pPr algn="l">
              <a:lnSpc>
                <a:spcPct val="112000"/>
              </a:lnSpc>
              <a:spcAft>
                <a:spcPts val="900"/>
              </a:spcAft>
              <a:defRPr sz="3200" b="1">
                <a:solidFill>
                  <a:srgbClr val="1C4072"/>
                </a:solidFill>
                <a:latin typeface="Arial"/>
              </a:defRPr>
              <a:buNone/>
            </a:pPr>
            <a:r>
              <a:t>Make reusable interpretation a durable asset.</a:t>
            </a:r>
          </a:p>
        </p:txBody>
      </p:sp>
      <p:sp>
        <p:nvSpPr>
          <p:cNvPr id="4" name="Rectangle 3"/>
          <p:cNvSpPr/>
          <p:nvPr/>
        </p:nvSpPr>
        <p:spPr>
          <a:xfrm>
            <a:off x="1463040" y="6373368"/>
            <a:ext cx="10058400" cy="22860"/>
          </a:xfrm>
          <a:prstGeom prst="rect">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6492240"/>
            <a:ext cx="9509760" cy="182880"/>
          </a:xfrm>
          <a:prstGeom prst="rect">
            <a:avLst/>
          </a:prstGeom>
          <a:noFill/>
        </p:spPr>
        <p:txBody>
          <a:bodyPr wrap="square" lIns="0" rIns="0" tIns="0" bIns="0">
            <a:spAutoFit/>
          </a:bodyPr>
          <a:lstStyle/>
          <a:p>
            <a:pPr algn="l">
              <a:lnSpc>
                <a:spcPct val="112000"/>
              </a:lnSpc>
              <a:spcAft>
                <a:spcPts val="900"/>
              </a:spcAft>
              <a:defRPr sz="900" b="0">
                <a:solidFill>
                  <a:srgbClr val="536378"/>
                </a:solidFill>
                <a:latin typeface="Arial"/>
              </a:defRPr>
              <a:buNone/>
            </a:pPr>
            <a:r>
              <a:t>Wild, Takahashi &amp; Uraki · iCAST-ES 2026 · paper #1571327482 · github.com/aix-sc/isc</a:t>
            </a:r>
          </a:p>
        </p:txBody>
      </p:sp>
      <p:sp>
        <p:nvSpPr>
          <p:cNvPr id="6" name="TextBox 5"/>
          <p:cNvSpPr txBox="1"/>
          <p:nvPr/>
        </p:nvSpPr>
        <p:spPr>
          <a:xfrm>
            <a:off x="10972800" y="6492240"/>
            <a:ext cx="548640" cy="182880"/>
          </a:xfrm>
          <a:prstGeom prst="rect">
            <a:avLst/>
          </a:prstGeom>
          <a:noFill/>
        </p:spPr>
        <p:txBody>
          <a:bodyPr wrap="square" lIns="0" rIns="0" tIns="0" bIns="0">
            <a:spAutoFit/>
          </a:bodyPr>
          <a:lstStyle/>
          <a:p>
            <a:pPr algn="r">
              <a:lnSpc>
                <a:spcPct val="112000"/>
              </a:lnSpc>
              <a:spcAft>
                <a:spcPts val="900"/>
              </a:spcAft>
              <a:defRPr sz="1000" b="0">
                <a:solidFill>
                  <a:srgbClr val="536378"/>
                </a:solidFill>
                <a:latin typeface="Arial"/>
              </a:defRPr>
              <a:buNone/>
            </a:pPr>
            <a:r>
              <a:t>12</a:t>
            </a:r>
          </a:p>
        </p:txBody>
      </p:sp>
      <p:sp>
        <p:nvSpPr>
          <p:cNvPr id="7" name="TextBox 6"/>
          <p:cNvSpPr txBox="1"/>
          <p:nvPr/>
        </p:nvSpPr>
        <p:spPr>
          <a:xfrm>
            <a:off x="1463040" y="1874519"/>
            <a:ext cx="10058400" cy="1572768"/>
          </a:xfrm>
          <a:prstGeom prst="rect">
            <a:avLst/>
          </a:prstGeom>
          <a:noFill/>
        </p:spPr>
        <p:txBody>
          <a:bodyPr wrap="square" lIns="0" rIns="0" tIns="0" bIns="0">
            <a:spAutoFit/>
          </a:bodyPr>
          <a:lstStyle/>
          <a:p>
            <a:pPr algn="l">
              <a:lnSpc>
                <a:spcPct val="112000"/>
              </a:lnSpc>
              <a:spcAft>
                <a:spcPts val="900"/>
              </a:spcAft>
              <a:defRPr sz="4300" b="1">
                <a:solidFill>
                  <a:srgbClr val="1C4072"/>
                </a:solidFill>
                <a:latin typeface="Arial"/>
              </a:defRPr>
              <a:buNone/>
            </a:pPr>
            <a:r>
              <a:t>Resolve the reference.</a:t>
            </a:r>
          </a:p>
          <a:p>
            <a:pPr algn="l">
              <a:lnSpc>
                <a:spcPct val="112000"/>
              </a:lnSpc>
              <a:spcAft>
                <a:spcPts val="900"/>
              </a:spcAft>
              <a:defRPr sz="4300" b="1">
                <a:solidFill>
                  <a:srgbClr val="1C4072"/>
                </a:solidFill>
                <a:latin typeface="Arial"/>
              </a:defRPr>
              <a:buNone/>
            </a:pPr>
            <a:r>
              <a:t>Resolve the revision.</a:t>
            </a:r>
          </a:p>
        </p:txBody>
      </p:sp>
      <p:sp>
        <p:nvSpPr>
          <p:cNvPr id="8" name="Rectangle 7"/>
          <p:cNvSpPr/>
          <p:nvPr/>
        </p:nvSpPr>
        <p:spPr>
          <a:xfrm>
            <a:off x="1463040" y="3703320"/>
            <a:ext cx="10058400" cy="22860"/>
          </a:xfrm>
          <a:prstGeom prst="rect">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63040" y="4005072"/>
            <a:ext cx="10058400" cy="914400"/>
          </a:xfrm>
          <a:prstGeom prst="rect">
            <a:avLst/>
          </a:prstGeom>
          <a:noFill/>
        </p:spPr>
        <p:txBody>
          <a:bodyPr wrap="square" lIns="0" rIns="0" tIns="0" bIns="0">
            <a:spAutoFit/>
          </a:bodyPr>
          <a:lstStyle/>
          <a:p>
            <a:pPr algn="l">
              <a:lnSpc>
                <a:spcPct val="112000"/>
              </a:lnSpc>
              <a:spcAft>
                <a:spcPts val="900"/>
              </a:spcAft>
              <a:defRPr sz="3200" b="0">
                <a:solidFill>
                  <a:srgbClr val="202B3B"/>
                </a:solidFill>
                <a:latin typeface="Arial"/>
              </a:defRPr>
              <a:buNone/>
            </a:pPr>
            <a:r>
              <a:t>Then let each question read the fact</a:t>
            </a:r>
          </a:p>
          <a:p>
            <a:pPr algn="l">
              <a:lnSpc>
                <a:spcPct val="112000"/>
              </a:lnSpc>
              <a:spcAft>
                <a:spcPts val="900"/>
              </a:spcAft>
              <a:defRPr sz="3200" b="0">
                <a:solidFill>
                  <a:srgbClr val="202B3B"/>
                </a:solidFill>
                <a:latin typeface="Arial"/>
              </a:defRPr>
              <a:buNone/>
            </a:pPr>
            <a:r>
              <a:t>and inspect where it came from.</a:t>
            </a:r>
          </a:p>
        </p:txBody>
      </p:sp>
      <p:sp>
        <p:nvSpPr>
          <p:cNvPr id="10" name="TextBox 9"/>
          <p:cNvSpPr txBox="1"/>
          <p:nvPr/>
        </p:nvSpPr>
        <p:spPr>
          <a:xfrm>
            <a:off x="1463040" y="5477256"/>
            <a:ext cx="10058400" cy="512064"/>
          </a:xfrm>
          <a:prstGeom prst="rect">
            <a:avLst/>
          </a:prstGeom>
          <a:noFill/>
        </p:spPr>
        <p:txBody>
          <a:bodyPr wrap="square" lIns="0" rIns="0" tIns="0" bIns="0">
            <a:spAutoFit/>
          </a:bodyPr>
          <a:lstStyle/>
          <a:p>
            <a:pPr algn="l">
              <a:lnSpc>
                <a:spcPct val="112000"/>
              </a:lnSpc>
              <a:spcAft>
                <a:spcPts val="900"/>
              </a:spcAft>
              <a:defRPr sz="2400" b="1">
                <a:solidFill>
                  <a:srgbClr val="3D6B35"/>
                </a:solidFill>
                <a:latin typeface="Arial"/>
              </a:defRPr>
              <a:buNone/>
            </a:pPr>
            <a:r>
              <a:t>Next: prove the full loop on real, continuously revised sources.</a:t>
            </a:r>
          </a:p>
        </p:txBody>
      </p:sp>
      <p:sp>
        <p:nvSpPr>
          <p:cNvPr id="11" name="TextBox 10"/>
          <p:cNvSpPr txBox="1"/>
          <p:nvPr/>
        </p:nvSpPr>
        <p:spPr>
          <a:xfrm>
            <a:off x="1463040" y="6035040"/>
            <a:ext cx="10058400" cy="237744"/>
          </a:xfrm>
          <a:prstGeom prst="rect">
            <a:avLst/>
          </a:prstGeom>
          <a:noFill/>
        </p:spPr>
        <p:txBody>
          <a:bodyPr wrap="square" lIns="0" rIns="0" tIns="0" bIns="0">
            <a:spAutoFit/>
          </a:bodyPr>
          <a:lstStyle/>
          <a:p>
            <a:pPr algn="l">
              <a:lnSpc>
                <a:spcPct val="112000"/>
              </a:lnSpc>
              <a:spcAft>
                <a:spcPts val="900"/>
              </a:spcAft>
              <a:defRPr sz="1900" b="0">
                <a:solidFill>
                  <a:srgbClr val="1C4072"/>
                </a:solidFill>
                <a:latin typeface="Arial"/>
              </a:defRPr>
              <a:buNone/>
            </a:pPr>
            <a:r>
              <a:t>Code + frozen artifacts   github.com/aix-sc/isc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329184"/>
            <a:ext cx="10058400"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EVIDENCE DETAIL</a:t>
            </a:r>
          </a:p>
        </p:txBody>
      </p:sp>
      <p:sp>
        <p:nvSpPr>
          <p:cNvPr id="3" name="TextBox 2"/>
          <p:cNvSpPr txBox="1"/>
          <p:nvPr/>
        </p:nvSpPr>
        <p:spPr>
          <a:xfrm>
            <a:off x="1463040" y="758952"/>
            <a:ext cx="10058400" cy="932688"/>
          </a:xfrm>
          <a:prstGeom prst="rect">
            <a:avLst/>
          </a:prstGeom>
          <a:noFill/>
        </p:spPr>
        <p:txBody>
          <a:bodyPr wrap="square" lIns="0" rIns="0" tIns="0" bIns="0">
            <a:spAutoFit/>
          </a:bodyPr>
          <a:lstStyle/>
          <a:p>
            <a:pPr algn="l">
              <a:lnSpc>
                <a:spcPct val="112000"/>
              </a:lnSpc>
              <a:spcAft>
                <a:spcPts val="900"/>
              </a:spcAft>
              <a:defRPr sz="3200" b="1">
                <a:solidFill>
                  <a:srgbClr val="1C4072"/>
                </a:solidFill>
                <a:latin typeface="Arial"/>
              </a:defRPr>
              <a:buNone/>
            </a:pPr>
            <a:r>
              <a:t>Appendix: the two recorded responses</a:t>
            </a:r>
          </a:p>
        </p:txBody>
      </p:sp>
      <p:sp>
        <p:nvSpPr>
          <p:cNvPr id="4" name="Rectangle 3"/>
          <p:cNvSpPr/>
          <p:nvPr/>
        </p:nvSpPr>
        <p:spPr>
          <a:xfrm>
            <a:off x="1463040" y="6373368"/>
            <a:ext cx="10058400" cy="22860"/>
          </a:xfrm>
          <a:prstGeom prst="rect">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6492240"/>
            <a:ext cx="9509760" cy="182880"/>
          </a:xfrm>
          <a:prstGeom prst="rect">
            <a:avLst/>
          </a:prstGeom>
          <a:noFill/>
        </p:spPr>
        <p:txBody>
          <a:bodyPr wrap="square" lIns="0" rIns="0" tIns="0" bIns="0">
            <a:spAutoFit/>
          </a:bodyPr>
          <a:lstStyle/>
          <a:p>
            <a:pPr algn="l">
              <a:lnSpc>
                <a:spcPct val="112000"/>
              </a:lnSpc>
              <a:spcAft>
                <a:spcPts val="900"/>
              </a:spcAft>
              <a:defRPr sz="900" b="0">
                <a:solidFill>
                  <a:srgbClr val="536378"/>
                </a:solidFill>
                <a:latin typeface="Arial"/>
              </a:defRPr>
              <a:buNone/>
            </a:pPr>
            <a:r>
              <a:t>adversarial_flash_seed_20260709_answers.jsonl · adversarial_project_000:launch_region · excerpts</a:t>
            </a:r>
          </a:p>
        </p:txBody>
      </p:sp>
      <p:sp>
        <p:nvSpPr>
          <p:cNvPr id="6" name="TextBox 5"/>
          <p:cNvSpPr txBox="1"/>
          <p:nvPr/>
        </p:nvSpPr>
        <p:spPr>
          <a:xfrm>
            <a:off x="10972800" y="6492240"/>
            <a:ext cx="548640" cy="182880"/>
          </a:xfrm>
          <a:prstGeom prst="rect">
            <a:avLst/>
          </a:prstGeom>
          <a:noFill/>
        </p:spPr>
        <p:txBody>
          <a:bodyPr wrap="square" lIns="0" rIns="0" tIns="0" bIns="0">
            <a:spAutoFit/>
          </a:bodyPr>
          <a:lstStyle/>
          <a:p>
            <a:pPr algn="r">
              <a:lnSpc>
                <a:spcPct val="112000"/>
              </a:lnSpc>
              <a:spcAft>
                <a:spcPts val="900"/>
              </a:spcAft>
              <a:defRPr sz="1000" b="0">
                <a:solidFill>
                  <a:srgbClr val="536378"/>
                </a:solidFill>
                <a:latin typeface="Arial"/>
              </a:defRPr>
              <a:buNone/>
            </a:pPr>
            <a:r>
              <a:t>13</a:t>
            </a:r>
          </a:p>
        </p:txBody>
      </p:sp>
      <p:sp>
        <p:nvSpPr>
          <p:cNvPr id="7" name="Rectangle 6"/>
          <p:cNvSpPr/>
          <p:nvPr/>
        </p:nvSpPr>
        <p:spPr>
          <a:xfrm>
            <a:off x="1463040" y="1874519"/>
            <a:ext cx="4709160" cy="26974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64208" y="2039112"/>
            <a:ext cx="4306824"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QSR  /  RAW COMPLETION EXCERPT</a:t>
            </a:r>
          </a:p>
        </p:txBody>
      </p:sp>
      <p:sp>
        <p:nvSpPr>
          <p:cNvPr id="9" name="TextBox 8"/>
          <p:cNvSpPr txBox="1"/>
          <p:nvPr/>
        </p:nvSpPr>
        <p:spPr>
          <a:xfrm>
            <a:off x="1664208" y="2514600"/>
            <a:ext cx="4306824" cy="1920240"/>
          </a:xfrm>
          <a:prstGeom prst="rect">
            <a:avLst/>
          </a:prstGeom>
          <a:noFill/>
        </p:spPr>
        <p:txBody>
          <a:bodyPr wrap="square" lIns="0" rIns="0" tIns="0" bIns="0">
            <a:spAutoFit/>
          </a:bodyPr>
          <a:lstStyle/>
          <a:p>
            <a:pPr algn="l">
              <a:lnSpc>
                <a:spcPct val="112000"/>
              </a:lnSpc>
              <a:spcAft>
                <a:spcPts val="900"/>
              </a:spcAft>
              <a:defRPr sz="2100" b="0">
                <a:solidFill>
                  <a:srgbClr val="202B3B"/>
                </a:solidFill>
                <a:latin typeface="Arial"/>
              </a:defRPr>
              <a:buNone/>
            </a:pPr>
            <a:r>
              <a:t>First, filter rows that match entity='adversarial_project_000' and slot='launch_region'.</a:t>
            </a:r>
          </a:p>
          <a:p>
            <a:pPr algn="l">
              <a:lnSpc>
                <a:spcPct val="112000"/>
              </a:lnSpc>
              <a:spcAft>
                <a:spcPts val="900"/>
              </a:spcAft>
              <a:defRPr sz="2100" b="0">
                <a:solidFill>
                  <a:srgbClr val="202B3B"/>
                </a:solidFill>
                <a:latin typeface="Arial"/>
              </a:defRPr>
              <a:buNone/>
            </a:pPr>
          </a:p>
          <a:p>
            <a:pPr algn="l">
              <a:lnSpc>
                <a:spcPct val="112000"/>
              </a:lnSpc>
              <a:spcAft>
                <a:spcPts val="900"/>
              </a:spcAft>
              <a:defRPr sz="2100" b="0">
                <a:solidFill>
                  <a:srgbClr val="202B3B"/>
                </a:solidFill>
                <a:latin typeface="Arial"/>
              </a:defRPr>
              <a:buNone/>
            </a:pPr>
            <a:r>
              <a:t>[continues listing candidates]</a:t>
            </a:r>
          </a:p>
        </p:txBody>
      </p:sp>
      <p:sp>
        <p:nvSpPr>
          <p:cNvPr id="10" name="Rectangle 9"/>
          <p:cNvSpPr/>
          <p:nvPr/>
        </p:nvSpPr>
        <p:spPr>
          <a:xfrm>
            <a:off x="6812280" y="1874519"/>
            <a:ext cx="4709160" cy="2697480"/>
          </a:xfrm>
          <a:prstGeom prst="rect">
            <a:avLst/>
          </a:prstGeom>
          <a:solidFill>
            <a:srgbClr val="ECF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22592" y="2039112"/>
            <a:ext cx="4288536"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ISC  /  ANSWER FIELDS</a:t>
            </a:r>
          </a:p>
        </p:txBody>
      </p:sp>
      <p:sp>
        <p:nvSpPr>
          <p:cNvPr id="12" name="TextBox 11"/>
          <p:cNvSpPr txBox="1"/>
          <p:nvPr/>
        </p:nvSpPr>
        <p:spPr>
          <a:xfrm>
            <a:off x="7022592" y="2633472"/>
            <a:ext cx="4288536" cy="1645920"/>
          </a:xfrm>
          <a:prstGeom prst="rect">
            <a:avLst/>
          </a:prstGeom>
          <a:noFill/>
        </p:spPr>
        <p:txBody>
          <a:bodyPr wrap="square" lIns="0" rIns="0" tIns="0" bIns="0">
            <a:spAutoFit/>
          </a:bodyPr>
          <a:lstStyle/>
          <a:p>
            <a:pPr algn="l">
              <a:lnSpc>
                <a:spcPct val="112000"/>
              </a:lnSpc>
              <a:spcAft>
                <a:spcPts val="900"/>
              </a:spcAft>
              <a:defRPr sz="1700" b="0">
                <a:solidFill>
                  <a:srgbClr val="202B3B"/>
                </a:solidFill>
                <a:latin typeface="Arial"/>
              </a:defRPr>
              <a:buNone/>
            </a:pPr>
            <a:r>
              <a:t>value: launch_region_governed_000</a:t>
            </a:r>
          </a:p>
          <a:p>
            <a:pPr algn="l">
              <a:lnSpc>
                <a:spcPct val="112000"/>
              </a:lnSpc>
              <a:spcAft>
                <a:spcPts val="900"/>
              </a:spcAft>
              <a:defRPr sz="1700" b="0">
                <a:solidFill>
                  <a:srgbClr val="202B3B"/>
                </a:solidFill>
                <a:latin typeface="Arial"/>
              </a:defRPr>
              <a:buNone/>
            </a:pPr>
            <a:r>
              <a:t>revision: 5</a:t>
            </a:r>
          </a:p>
          <a:p>
            <a:pPr algn="l">
              <a:lnSpc>
                <a:spcPct val="112000"/>
              </a:lnSpc>
              <a:spcAft>
                <a:spcPts val="900"/>
              </a:spcAft>
              <a:defRPr sz="1700" b="0">
                <a:solidFill>
                  <a:srgbClr val="202B3B"/>
                </a:solidFill>
                <a:latin typeface="Arial"/>
              </a:defRPr>
              <a:buNone/>
            </a:pPr>
            <a:r>
              <a:t>source: …/owner-approved-r5.md</a:t>
            </a:r>
          </a:p>
        </p:txBody>
      </p:sp>
      <p:sp>
        <p:nvSpPr>
          <p:cNvPr id="13" name="TextBox 12"/>
          <p:cNvSpPr txBox="1"/>
          <p:nvPr/>
        </p:nvSpPr>
        <p:spPr>
          <a:xfrm>
            <a:off x="1463040" y="4974336"/>
            <a:ext cx="4709160" cy="868680"/>
          </a:xfrm>
          <a:prstGeom prst="rect">
            <a:avLst/>
          </a:prstGeom>
          <a:noFill/>
        </p:spPr>
        <p:txBody>
          <a:bodyPr wrap="square" lIns="0" rIns="0" tIns="0" bIns="0">
            <a:spAutoFit/>
          </a:bodyPr>
          <a:lstStyle/>
          <a:p>
            <a:pPr algn="l">
              <a:lnSpc>
                <a:spcPct val="112000"/>
              </a:lnSpc>
              <a:spcAft>
                <a:spcPts val="900"/>
              </a:spcAft>
              <a:defRPr sz="2200" b="1">
                <a:solidFill>
                  <a:srgbClr val="964536"/>
                </a:solidFill>
                <a:latin typeface="Arial"/>
              </a:defRPr>
              <a:buNone/>
            </a:pPr>
            <a:r>
              <a:t>No parseable final answer.</a:t>
            </a:r>
          </a:p>
          <a:p>
            <a:pPr algn="l">
              <a:lnSpc>
                <a:spcPct val="112000"/>
              </a:lnSpc>
              <a:spcAft>
                <a:spcPts val="900"/>
              </a:spcAft>
              <a:defRPr sz="2200" b="1">
                <a:solidFill>
                  <a:srgbClr val="964536"/>
                </a:solidFill>
                <a:latin typeface="Arial"/>
              </a:defRPr>
              <a:buNone/>
            </a:pPr>
            <a:r>
              <a:t>1,024 completion tokens.</a:t>
            </a:r>
          </a:p>
        </p:txBody>
      </p:sp>
      <p:sp>
        <p:nvSpPr>
          <p:cNvPr id="14" name="TextBox 13"/>
          <p:cNvSpPr txBox="1"/>
          <p:nvPr/>
        </p:nvSpPr>
        <p:spPr>
          <a:xfrm>
            <a:off x="6812280" y="4974336"/>
            <a:ext cx="4709160" cy="868680"/>
          </a:xfrm>
          <a:prstGeom prst="rect">
            <a:avLst/>
          </a:prstGeom>
          <a:noFill/>
        </p:spPr>
        <p:txBody>
          <a:bodyPr wrap="square" lIns="0" rIns="0" tIns="0" bIns="0">
            <a:spAutoFit/>
          </a:bodyPr>
          <a:lstStyle/>
          <a:p>
            <a:pPr algn="l">
              <a:lnSpc>
                <a:spcPct val="112000"/>
              </a:lnSpc>
              <a:spcAft>
                <a:spcPts val="900"/>
              </a:spcAft>
              <a:defRPr sz="2200" b="1">
                <a:solidFill>
                  <a:srgbClr val="3D6B35"/>
                </a:solidFill>
                <a:latin typeface="Arial"/>
              </a:defRPr>
              <a:buNone/>
            </a:pPr>
            <a:r>
              <a:t>Value + source + revision exact.</a:t>
            </a:r>
          </a:p>
          <a:p>
            <a:pPr algn="l">
              <a:lnSpc>
                <a:spcPct val="112000"/>
              </a:lnSpc>
              <a:spcAft>
                <a:spcPts val="900"/>
              </a:spcAft>
              <a:defRPr sz="2200" b="1">
                <a:solidFill>
                  <a:srgbClr val="3D6B35"/>
                </a:solidFill>
                <a:latin typeface="Arial"/>
              </a:defRPr>
              <a:buNone/>
            </a:pPr>
            <a:r>
              <a:t>221 completion tokens.</a:t>
            </a:r>
          </a:p>
        </p:txBody>
      </p:sp>
      <p:sp>
        <p:nvSpPr>
          <p:cNvPr id="15" name="TextBox 14"/>
          <p:cNvSpPr txBox="1"/>
          <p:nvPr/>
        </p:nvSpPr>
        <p:spPr>
          <a:xfrm>
            <a:off x="1463040" y="6007608"/>
            <a:ext cx="10058400" cy="201168"/>
          </a:xfrm>
          <a:prstGeom prst="rect">
            <a:avLst/>
          </a:prstGeom>
          <a:noFill/>
        </p:spPr>
        <p:txBody>
          <a:bodyPr wrap="square" lIns="0" rIns="0" tIns="0" bIns="0">
            <a:spAutoFit/>
          </a:bodyPr>
          <a:lstStyle/>
          <a:p>
            <a:pPr algn="l">
              <a:lnSpc>
                <a:spcPct val="112000"/>
              </a:lnSpc>
              <a:spcAft>
                <a:spcPts val="900"/>
              </a:spcAft>
              <a:defRPr sz="1400" b="0">
                <a:solidFill>
                  <a:srgbClr val="536378"/>
                </a:solidFill>
                <a:latin typeface="Arial"/>
              </a:defRPr>
              <a:buNone/>
            </a:pPr>
            <a:r>
              <a:t>Trace is excerpted; source path abbreviated. Full inputs and outputs: examples.json.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329184"/>
            <a:ext cx="10058400"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NUMBERS AND SCOPE</a:t>
            </a:r>
          </a:p>
        </p:txBody>
      </p:sp>
      <p:sp>
        <p:nvSpPr>
          <p:cNvPr id="3" name="TextBox 2"/>
          <p:cNvSpPr txBox="1"/>
          <p:nvPr/>
        </p:nvSpPr>
        <p:spPr>
          <a:xfrm>
            <a:off x="1463040" y="758952"/>
            <a:ext cx="10058400" cy="932688"/>
          </a:xfrm>
          <a:prstGeom prst="rect">
            <a:avLst/>
          </a:prstGeom>
          <a:noFill/>
        </p:spPr>
        <p:txBody>
          <a:bodyPr wrap="square" lIns="0" rIns="0" tIns="0" bIns="0">
            <a:spAutoFit/>
          </a:bodyPr>
          <a:lstStyle/>
          <a:p>
            <a:pPr algn="l">
              <a:lnSpc>
                <a:spcPct val="112000"/>
              </a:lnSpc>
              <a:spcAft>
                <a:spcPts val="900"/>
              </a:spcAft>
              <a:defRPr sz="3200" b="1">
                <a:solidFill>
                  <a:srgbClr val="1C4072"/>
                </a:solidFill>
                <a:latin typeface="Arial"/>
              </a:defRPr>
              <a:buNone/>
            </a:pPr>
            <a:r>
              <a:t>Appendix: measurements behind the headline</a:t>
            </a:r>
          </a:p>
        </p:txBody>
      </p:sp>
      <p:sp>
        <p:nvSpPr>
          <p:cNvPr id="4" name="Rectangle 3"/>
          <p:cNvSpPr/>
          <p:nvPr/>
        </p:nvSpPr>
        <p:spPr>
          <a:xfrm>
            <a:off x="1463040" y="6373368"/>
            <a:ext cx="10058400" cy="22860"/>
          </a:xfrm>
          <a:prstGeom prst="rect">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6492240"/>
            <a:ext cx="9509760" cy="182880"/>
          </a:xfrm>
          <a:prstGeom prst="rect">
            <a:avLst/>
          </a:prstGeom>
          <a:noFill/>
        </p:spPr>
        <p:txBody>
          <a:bodyPr wrap="square" lIns="0" rIns="0" tIns="0" bIns="0">
            <a:spAutoFit/>
          </a:bodyPr>
          <a:lstStyle/>
          <a:p>
            <a:pPr algn="l">
              <a:lnSpc>
                <a:spcPct val="112000"/>
              </a:lnSpc>
              <a:spcAft>
                <a:spcPts val="900"/>
              </a:spcAft>
              <a:defRPr sz="900" b="0">
                <a:solidFill>
                  <a:srgbClr val="536378"/>
                </a:solidFill>
                <a:latin typeface="Arial"/>
              </a:defRPr>
              <a:buNone/>
            </a:pPr>
            <a:r>
              <a:t>Camera-ready Tables II–V · frozen model/provider settings; ratios from unrounded means</a:t>
            </a:r>
          </a:p>
        </p:txBody>
      </p:sp>
      <p:sp>
        <p:nvSpPr>
          <p:cNvPr id="6" name="TextBox 5"/>
          <p:cNvSpPr txBox="1"/>
          <p:nvPr/>
        </p:nvSpPr>
        <p:spPr>
          <a:xfrm>
            <a:off x="10972800" y="6492240"/>
            <a:ext cx="548640" cy="182880"/>
          </a:xfrm>
          <a:prstGeom prst="rect">
            <a:avLst/>
          </a:prstGeom>
          <a:noFill/>
        </p:spPr>
        <p:txBody>
          <a:bodyPr wrap="square" lIns="0" rIns="0" tIns="0" bIns="0">
            <a:spAutoFit/>
          </a:bodyPr>
          <a:lstStyle/>
          <a:p>
            <a:pPr algn="r">
              <a:lnSpc>
                <a:spcPct val="112000"/>
              </a:lnSpc>
              <a:spcAft>
                <a:spcPts val="900"/>
              </a:spcAft>
              <a:defRPr sz="1000" b="0">
                <a:solidFill>
                  <a:srgbClr val="536378"/>
                </a:solidFill>
                <a:latin typeface="Arial"/>
              </a:defRPr>
              <a:buNone/>
            </a:pPr>
            <a:r>
              <a:t>14</a:t>
            </a:r>
          </a:p>
        </p:txBody>
      </p:sp>
      <p:sp>
        <p:nvSpPr>
          <p:cNvPr id="7" name="Rectangle 6"/>
          <p:cNvSpPr/>
          <p:nvPr/>
        </p:nvSpPr>
        <p:spPr>
          <a:xfrm>
            <a:off x="1463040" y="1847088"/>
            <a:ext cx="4709160" cy="20116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64208" y="2011680"/>
            <a:ext cx="4306824"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ADVERSARIAL / FLASH</a:t>
            </a:r>
          </a:p>
        </p:txBody>
      </p:sp>
      <p:sp>
        <p:nvSpPr>
          <p:cNvPr id="9" name="TextBox 8"/>
          <p:cNvSpPr txBox="1"/>
          <p:nvPr/>
        </p:nvSpPr>
        <p:spPr>
          <a:xfrm>
            <a:off x="1664208" y="2487168"/>
            <a:ext cx="4306824" cy="1234440"/>
          </a:xfrm>
          <a:prstGeom prst="rect">
            <a:avLst/>
          </a:prstGeom>
          <a:noFill/>
        </p:spPr>
        <p:txBody>
          <a:bodyPr wrap="square" lIns="0" rIns="0" tIns="0" bIns="0">
            <a:spAutoFit/>
          </a:bodyPr>
          <a:lstStyle/>
          <a:p>
            <a:pPr algn="l">
              <a:lnSpc>
                <a:spcPct val="112000"/>
              </a:lnSpc>
              <a:spcAft>
                <a:spcPts val="900"/>
              </a:spcAft>
              <a:defRPr sz="1700" b="0">
                <a:solidFill>
                  <a:srgbClr val="202B3B"/>
                </a:solidFill>
                <a:latin typeface="Arial"/>
              </a:defRPr>
              <a:buNone/>
            </a:pPr>
            <a:r>
              <a:t>QSR 1/30 → ISC 30/30 exact</a:t>
            </a:r>
          </a:p>
          <a:p>
            <a:pPr algn="l">
              <a:lnSpc>
                <a:spcPct val="112000"/>
              </a:lnSpc>
              <a:spcAft>
                <a:spcPts val="900"/>
              </a:spcAft>
              <a:defRPr sz="1700" b="0">
                <a:solidFill>
                  <a:srgbClr val="202B3B"/>
                </a:solidFill>
                <a:latin typeface="Arial"/>
              </a:defRPr>
              <a:buNone/>
            </a:pPr>
            <a:r>
              <a:t>Cost/q $0.00131 → $0.00010 (12.89×)</a:t>
            </a:r>
          </a:p>
          <a:p>
            <a:pPr algn="l">
              <a:lnSpc>
                <a:spcPct val="112000"/>
              </a:lnSpc>
              <a:spcAft>
                <a:spcPts val="900"/>
              </a:spcAft>
              <a:defRPr sz="1700" b="0">
                <a:solidFill>
                  <a:srgbClr val="202B3B"/>
                </a:solidFill>
                <a:latin typeface="Arial"/>
              </a:defRPr>
              <a:buNone/>
            </a:pPr>
            <a:r>
              <a:t>Latency 8.87 s → 3.06 s</a:t>
            </a:r>
          </a:p>
        </p:txBody>
      </p:sp>
      <p:sp>
        <p:nvSpPr>
          <p:cNvPr id="10" name="Rectangle 9"/>
          <p:cNvSpPr/>
          <p:nvPr/>
        </p:nvSpPr>
        <p:spPr>
          <a:xfrm>
            <a:off x="6812280" y="1847088"/>
            <a:ext cx="4709160" cy="20116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13448" y="2011680"/>
            <a:ext cx="4306824"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SIMPLE REVISIONS / FLASH</a:t>
            </a:r>
          </a:p>
        </p:txBody>
      </p:sp>
      <p:sp>
        <p:nvSpPr>
          <p:cNvPr id="12" name="TextBox 11"/>
          <p:cNvSpPr txBox="1"/>
          <p:nvPr/>
        </p:nvSpPr>
        <p:spPr>
          <a:xfrm>
            <a:off x="7013448" y="2487168"/>
            <a:ext cx="4306824" cy="1234440"/>
          </a:xfrm>
          <a:prstGeom prst="rect">
            <a:avLst/>
          </a:prstGeom>
          <a:noFill/>
        </p:spPr>
        <p:txBody>
          <a:bodyPr wrap="square" lIns="0" rIns="0" tIns="0" bIns="0">
            <a:spAutoFit/>
          </a:bodyPr>
          <a:lstStyle/>
          <a:p>
            <a:pPr algn="l">
              <a:lnSpc>
                <a:spcPct val="112000"/>
              </a:lnSpc>
              <a:spcAft>
                <a:spcPts val="900"/>
              </a:spcAft>
              <a:defRPr sz="1700" b="0">
                <a:solidFill>
                  <a:srgbClr val="202B3B"/>
                </a:solidFill>
                <a:latin typeface="Arial"/>
              </a:defRPr>
              <a:buNone/>
            </a:pPr>
            <a:r>
              <a:t>Both exact; tokens/q 9,777 → 453 (21.6×)</a:t>
            </a:r>
          </a:p>
          <a:p>
            <a:pPr algn="l">
              <a:lnSpc>
                <a:spcPct val="112000"/>
              </a:lnSpc>
              <a:spcAft>
                <a:spcPts val="900"/>
              </a:spcAft>
              <a:defRPr sz="1700" b="0">
                <a:solidFill>
                  <a:srgbClr val="202B3B"/>
                </a:solidFill>
                <a:latin typeface="Arial"/>
              </a:defRPr>
              <a:buNone/>
            </a:pPr>
            <a:r>
              <a:t>Cost/q $0.00142 → $0.00010 (14.21×)</a:t>
            </a:r>
          </a:p>
          <a:p>
            <a:pPr algn="l">
              <a:lnSpc>
                <a:spcPct val="112000"/>
              </a:lnSpc>
              <a:spcAft>
                <a:spcPts val="900"/>
              </a:spcAft>
              <a:defRPr sz="1700" b="0">
                <a:solidFill>
                  <a:srgbClr val="202B3B"/>
                </a:solidFill>
                <a:latin typeface="Arial"/>
              </a:defRPr>
              <a:buNone/>
            </a:pPr>
            <a:r>
              <a:t>Latency 3.40 s → 3.30 s</a:t>
            </a:r>
          </a:p>
        </p:txBody>
      </p:sp>
      <p:sp>
        <p:nvSpPr>
          <p:cNvPr id="13" name="Rectangle 12"/>
          <p:cNvSpPr/>
          <p:nvPr/>
        </p:nvSpPr>
        <p:spPr>
          <a:xfrm>
            <a:off x="1463040" y="3977639"/>
            <a:ext cx="4709160" cy="20116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64208" y="4142231"/>
            <a:ext cx="4306824"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S2 / DIALOGUE</a:t>
            </a:r>
          </a:p>
        </p:txBody>
      </p:sp>
      <p:sp>
        <p:nvSpPr>
          <p:cNvPr id="15" name="TextBox 14"/>
          <p:cNvSpPr txBox="1"/>
          <p:nvPr/>
        </p:nvSpPr>
        <p:spPr>
          <a:xfrm>
            <a:off x="1664208" y="4617720"/>
            <a:ext cx="4306824" cy="1234440"/>
          </a:xfrm>
          <a:prstGeom prst="rect">
            <a:avLst/>
          </a:prstGeom>
          <a:noFill/>
        </p:spPr>
        <p:txBody>
          <a:bodyPr wrap="square" lIns="0" rIns="0" tIns="0" bIns="0">
            <a:spAutoFit/>
          </a:bodyPr>
          <a:lstStyle/>
          <a:p>
            <a:pPr algn="l">
              <a:lnSpc>
                <a:spcPct val="112000"/>
              </a:lnSpc>
              <a:spcAft>
                <a:spcPts val="900"/>
              </a:spcAft>
              <a:defRPr sz="1700" b="0">
                <a:solidFill>
                  <a:srgbClr val="202B3B"/>
                </a:solidFill>
                <a:latin typeface="Arial"/>
              </a:defRPr>
              <a:buNone/>
            </a:pPr>
            <a:r>
              <a:t>25 passages; token ratio 0.49×</a:t>
            </a:r>
          </a:p>
          <a:p>
            <a:pPr algn="l">
              <a:lnSpc>
                <a:spcPct val="112000"/>
              </a:lnSpc>
              <a:spcAft>
                <a:spcPts val="900"/>
              </a:spcAft>
              <a:defRPr sz="1700" b="0">
                <a:solidFill>
                  <a:srgbClr val="202B3B"/>
                </a:solidFill>
                <a:latin typeface="Arial"/>
              </a:defRPr>
              <a:buNone/>
            </a:pPr>
            <a:r>
              <a:t>Entailed 97.6%; QA fidelity 92.0%</a:t>
            </a:r>
          </a:p>
          <a:p>
            <a:pPr algn="l">
              <a:lnSpc>
                <a:spcPct val="112000"/>
              </a:lnSpc>
              <a:spcAft>
                <a:spcPts val="900"/>
              </a:spcAft>
              <a:defRPr sz="1700" b="0">
                <a:solidFill>
                  <a:srgbClr val="202B3B"/>
                </a:solidFill>
                <a:latin typeface="Arial"/>
              </a:defRPr>
              <a:buNone/>
            </a:pPr>
            <a:r>
              <a:t>Cost/fact $0.00003 (reconstructed)</a:t>
            </a:r>
          </a:p>
        </p:txBody>
      </p:sp>
      <p:sp>
        <p:nvSpPr>
          <p:cNvPr id="16" name="Rectangle 15"/>
          <p:cNvSpPr/>
          <p:nvPr/>
        </p:nvSpPr>
        <p:spPr>
          <a:xfrm>
            <a:off x="6812280" y="3977639"/>
            <a:ext cx="4709160" cy="20116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13448" y="4142231"/>
            <a:ext cx="4306824"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S2 / PROSE</a:t>
            </a:r>
          </a:p>
        </p:txBody>
      </p:sp>
      <p:sp>
        <p:nvSpPr>
          <p:cNvPr id="18" name="TextBox 17"/>
          <p:cNvSpPr txBox="1"/>
          <p:nvPr/>
        </p:nvSpPr>
        <p:spPr>
          <a:xfrm>
            <a:off x="7013448" y="4617720"/>
            <a:ext cx="4306824" cy="1234440"/>
          </a:xfrm>
          <a:prstGeom prst="rect">
            <a:avLst/>
          </a:prstGeom>
          <a:noFill/>
        </p:spPr>
        <p:txBody>
          <a:bodyPr wrap="square" lIns="0" rIns="0" tIns="0" bIns="0">
            <a:spAutoFit/>
          </a:bodyPr>
          <a:lstStyle/>
          <a:p>
            <a:pPr algn="l">
              <a:lnSpc>
                <a:spcPct val="112000"/>
              </a:lnSpc>
              <a:spcAft>
                <a:spcPts val="900"/>
              </a:spcAft>
              <a:defRPr sz="1700" b="0">
                <a:solidFill>
                  <a:srgbClr val="202B3B"/>
                </a:solidFill>
                <a:latin typeface="Arial"/>
              </a:defRPr>
              <a:buNone/>
            </a:pPr>
            <a:r>
              <a:t>30 passages; token ratio 1.03×</a:t>
            </a:r>
          </a:p>
          <a:p>
            <a:pPr algn="l">
              <a:lnSpc>
                <a:spcPct val="112000"/>
              </a:lnSpc>
              <a:spcAft>
                <a:spcPts val="900"/>
              </a:spcAft>
              <a:defRPr sz="1700" b="0">
                <a:solidFill>
                  <a:srgbClr val="202B3B"/>
                </a:solidFill>
                <a:latin typeface="Arial"/>
              </a:defRPr>
              <a:buNone/>
            </a:pPr>
            <a:r>
              <a:t>Entailed 100.0%; QA fidelity 96.7%</a:t>
            </a:r>
          </a:p>
          <a:p>
            <a:pPr algn="l">
              <a:lnSpc>
                <a:spcPct val="112000"/>
              </a:lnSpc>
              <a:spcAft>
                <a:spcPts val="900"/>
              </a:spcAft>
              <a:defRPr sz="1700" b="0">
                <a:solidFill>
                  <a:srgbClr val="202B3B"/>
                </a:solidFill>
                <a:latin typeface="Arial"/>
              </a:defRPr>
              <a:buNone/>
            </a:pPr>
            <a:r>
              <a:t>Cost/fact $0.00001 (reconstructed)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329184"/>
            <a:ext cx="10058400"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LIMITS AND COMPARISON ARMS</a:t>
            </a:r>
          </a:p>
        </p:txBody>
      </p:sp>
      <p:sp>
        <p:nvSpPr>
          <p:cNvPr id="3" name="TextBox 2"/>
          <p:cNvSpPr txBox="1"/>
          <p:nvPr/>
        </p:nvSpPr>
        <p:spPr>
          <a:xfrm>
            <a:off x="1463040" y="758952"/>
            <a:ext cx="10058400" cy="932688"/>
          </a:xfrm>
          <a:prstGeom prst="rect">
            <a:avLst/>
          </a:prstGeom>
          <a:noFill/>
        </p:spPr>
        <p:txBody>
          <a:bodyPr wrap="square" lIns="0" rIns="0" tIns="0" bIns="0">
            <a:spAutoFit/>
          </a:bodyPr>
          <a:lstStyle/>
          <a:p>
            <a:pPr algn="l">
              <a:lnSpc>
                <a:spcPct val="112000"/>
              </a:lnSpc>
              <a:spcAft>
                <a:spcPts val="900"/>
              </a:spcAft>
              <a:defRPr sz="3200" b="1">
                <a:solidFill>
                  <a:srgbClr val="1C4072"/>
                </a:solidFill>
                <a:latin typeface="Arial"/>
              </a:defRPr>
              <a:buNone/>
            </a:pPr>
            <a:r>
              <a:t>Appendix: what remains to be tested</a:t>
            </a:r>
          </a:p>
        </p:txBody>
      </p:sp>
      <p:sp>
        <p:nvSpPr>
          <p:cNvPr id="4" name="Rectangle 3"/>
          <p:cNvSpPr/>
          <p:nvPr/>
        </p:nvSpPr>
        <p:spPr>
          <a:xfrm>
            <a:off x="1463040" y="6373368"/>
            <a:ext cx="10058400" cy="22860"/>
          </a:xfrm>
          <a:prstGeom prst="rect">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6492240"/>
            <a:ext cx="9509760" cy="182880"/>
          </a:xfrm>
          <a:prstGeom prst="rect">
            <a:avLst/>
          </a:prstGeom>
          <a:noFill/>
        </p:spPr>
        <p:txBody>
          <a:bodyPr wrap="square" lIns="0" rIns="0" tIns="0" bIns="0">
            <a:spAutoFit/>
          </a:bodyPr>
          <a:lstStyle/>
          <a:p>
            <a:pPr algn="l">
              <a:lnSpc>
                <a:spcPct val="112000"/>
              </a:lnSpc>
              <a:spcAft>
                <a:spcPts val="900"/>
              </a:spcAft>
              <a:defRPr sz="900" b="0">
                <a:solidFill>
                  <a:srgbClr val="536378"/>
                </a:solidFill>
                <a:latin typeface="Arial"/>
              </a:defRPr>
              <a:buNone/>
            </a:pPr>
            <a:r>
              <a:t>Discussion; Tables IV–V; run.py build_messages() and make_adversarial_questions()</a:t>
            </a:r>
          </a:p>
        </p:txBody>
      </p:sp>
      <p:sp>
        <p:nvSpPr>
          <p:cNvPr id="6" name="TextBox 5"/>
          <p:cNvSpPr txBox="1"/>
          <p:nvPr/>
        </p:nvSpPr>
        <p:spPr>
          <a:xfrm>
            <a:off x="10972800" y="6492240"/>
            <a:ext cx="548640" cy="182880"/>
          </a:xfrm>
          <a:prstGeom prst="rect">
            <a:avLst/>
          </a:prstGeom>
          <a:noFill/>
        </p:spPr>
        <p:txBody>
          <a:bodyPr wrap="square" lIns="0" rIns="0" tIns="0" bIns="0">
            <a:spAutoFit/>
          </a:bodyPr>
          <a:lstStyle/>
          <a:p>
            <a:pPr algn="r">
              <a:lnSpc>
                <a:spcPct val="112000"/>
              </a:lnSpc>
              <a:spcAft>
                <a:spcPts val="900"/>
              </a:spcAft>
              <a:defRPr sz="1000" b="0">
                <a:solidFill>
                  <a:srgbClr val="536378"/>
                </a:solidFill>
                <a:latin typeface="Arial"/>
              </a:defRPr>
              <a:buNone/>
            </a:pPr>
            <a:r>
              <a:t>15</a:t>
            </a:r>
          </a:p>
        </p:txBody>
      </p:sp>
      <p:sp>
        <p:nvSpPr>
          <p:cNvPr id="7" name="Rectangle 6"/>
          <p:cNvSpPr/>
          <p:nvPr/>
        </p:nvSpPr>
        <p:spPr>
          <a:xfrm>
            <a:off x="1463040" y="1828800"/>
            <a:ext cx="4709160" cy="2240280"/>
          </a:xfrm>
          <a:prstGeom prst="rect">
            <a:avLst/>
          </a:prstGeom>
          <a:solidFill>
            <a:srgbClr val="E9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64208" y="1993392"/>
            <a:ext cx="4306824"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THE READ-PATH CONTROL</a:t>
            </a:r>
          </a:p>
        </p:txBody>
      </p:sp>
      <p:sp>
        <p:nvSpPr>
          <p:cNvPr id="9" name="TextBox 8"/>
          <p:cNvSpPr txBox="1"/>
          <p:nvPr/>
        </p:nvSpPr>
        <p:spPr>
          <a:xfrm>
            <a:off x="1664208" y="2468880"/>
            <a:ext cx="4306824" cy="1463040"/>
          </a:xfrm>
          <a:prstGeom prst="rect">
            <a:avLst/>
          </a:prstGeom>
          <a:noFill/>
        </p:spPr>
        <p:txBody>
          <a:bodyPr wrap="square" lIns="0" rIns="0" tIns="0" bIns="0">
            <a:spAutoFit/>
          </a:bodyPr>
          <a:lstStyle/>
          <a:p>
            <a:pPr algn="l">
              <a:lnSpc>
                <a:spcPct val="112000"/>
              </a:lnSpc>
              <a:spcAft>
                <a:spcPts val="900"/>
              </a:spcAft>
              <a:defRPr sz="2200" b="0">
                <a:solidFill>
                  <a:srgbClr val="202B3B"/>
                </a:solidFill>
                <a:latin typeface="Arial"/>
              </a:defRPr>
              <a:buNone/>
            </a:pPr>
            <a:r>
              <a:t>Reference-resolved rows are supplied from expected fields.</a:t>
            </a:r>
          </a:p>
          <a:p>
            <a:pPr algn="l">
              <a:lnSpc>
                <a:spcPct val="112000"/>
              </a:lnSpc>
              <a:spcAft>
                <a:spcPts val="900"/>
              </a:spcAft>
              <a:defRPr sz="2200" b="0">
                <a:solidFill>
                  <a:srgbClr val="202B3B"/>
                </a:solidFill>
                <a:latin typeface="Arial"/>
              </a:defRPr>
              <a:buNone/>
            </a:pPr>
            <a:r>
              <a:t>The end-to-end compiler is not tested.</a:t>
            </a:r>
          </a:p>
        </p:txBody>
      </p:sp>
      <p:sp>
        <p:nvSpPr>
          <p:cNvPr id="10" name="Rectangle 9"/>
          <p:cNvSpPr/>
          <p:nvPr/>
        </p:nvSpPr>
        <p:spPr>
          <a:xfrm>
            <a:off x="6812280" y="1828800"/>
            <a:ext cx="4709160" cy="22402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13448" y="1993392"/>
            <a:ext cx="4306824"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THE MISSING COMPARISON</a:t>
            </a:r>
          </a:p>
        </p:txBody>
      </p:sp>
      <p:sp>
        <p:nvSpPr>
          <p:cNvPr id="12" name="TextBox 11"/>
          <p:cNvSpPr txBox="1"/>
          <p:nvPr/>
        </p:nvSpPr>
        <p:spPr>
          <a:xfrm>
            <a:off x="7013448" y="2468880"/>
            <a:ext cx="4306824" cy="1463040"/>
          </a:xfrm>
          <a:prstGeom prst="rect">
            <a:avLst/>
          </a:prstGeom>
          <a:noFill/>
        </p:spPr>
        <p:txBody>
          <a:bodyPr wrap="square" lIns="0" rIns="0" tIns="0" bIns="0">
            <a:spAutoFit/>
          </a:bodyPr>
          <a:lstStyle/>
          <a:p>
            <a:pPr algn="l">
              <a:lnSpc>
                <a:spcPct val="112000"/>
              </a:lnSpc>
              <a:spcAft>
                <a:spcPts val="900"/>
              </a:spcAft>
              <a:defRPr sz="2200" b="0">
                <a:solidFill>
                  <a:srgbClr val="202B3B"/>
                </a:solidFill>
                <a:latin typeface="Arial"/>
              </a:defRPr>
              <a:buNone/>
            </a:pPr>
            <a:r>
              <a:t>A deterministic row filter.</a:t>
            </a:r>
          </a:p>
          <a:p>
            <a:pPr algn="l">
              <a:lnSpc>
                <a:spcPct val="112000"/>
              </a:lnSpc>
              <a:spcAft>
                <a:spcPts val="900"/>
              </a:spcAft>
              <a:defRPr sz="2200" b="0">
                <a:solidFill>
                  <a:srgbClr val="202B3B"/>
                </a:solidFill>
                <a:latin typeface="Arial"/>
              </a:defRPr>
              <a:buNone/>
            </a:pPr>
            <a:r>
              <a:t>More time to finish an answer.</a:t>
            </a:r>
          </a:p>
          <a:p>
            <a:pPr algn="l">
              <a:lnSpc>
                <a:spcPct val="112000"/>
              </a:lnSpc>
              <a:spcAft>
                <a:spcPts val="900"/>
              </a:spcAft>
              <a:defRPr sz="2200" b="0">
                <a:solidFill>
                  <a:srgbClr val="202B3B"/>
                </a:solidFill>
                <a:latin typeface="Arial"/>
              </a:defRPr>
              <a:buNone/>
            </a:pPr>
            <a:r>
              <a:t>Real revision streams.</a:t>
            </a:r>
          </a:p>
        </p:txBody>
      </p:sp>
      <p:sp>
        <p:nvSpPr>
          <p:cNvPr id="13" name="TextBox 12"/>
          <p:cNvSpPr txBox="1"/>
          <p:nvPr/>
        </p:nvSpPr>
        <p:spPr>
          <a:xfrm>
            <a:off x="1463040" y="4251960"/>
            <a:ext cx="10058400" cy="329184"/>
          </a:xfrm>
          <a:prstGeom prst="rect">
            <a:avLst/>
          </a:prstGeom>
          <a:noFill/>
        </p:spPr>
        <p:txBody>
          <a:bodyPr wrap="square" lIns="0" rIns="0" tIns="0" bIns="0">
            <a:spAutoFit/>
          </a:bodyPr>
          <a:lstStyle/>
          <a:p>
            <a:pPr algn="l">
              <a:lnSpc>
                <a:spcPct val="112000"/>
              </a:lnSpc>
              <a:spcAft>
                <a:spcPts val="900"/>
              </a:spcAft>
              <a:defRPr sz="1300" b="1">
                <a:solidFill>
                  <a:srgbClr val="1C4072"/>
                </a:solidFill>
                <a:latin typeface="Arial"/>
              </a:defRPr>
              <a:buNone/>
            </a:pPr>
            <a:r>
              <a:t>HEAVIER-MODEL SPOT CHECKS  /  THREE ADVERSARIAL QUESTIONS × FIVE SEEDS</a:t>
            </a:r>
          </a:p>
        </p:txBody>
      </p:sp>
      <p:sp>
        <p:nvSpPr>
          <p:cNvPr id="14" name="TextBox 13"/>
          <p:cNvSpPr txBox="1"/>
          <p:nvPr/>
        </p:nvSpPr>
        <p:spPr>
          <a:xfrm>
            <a:off x="1463040" y="4754880"/>
            <a:ext cx="10058400" cy="1152144"/>
          </a:xfrm>
          <a:prstGeom prst="rect">
            <a:avLst/>
          </a:prstGeom>
          <a:noFill/>
        </p:spPr>
        <p:txBody>
          <a:bodyPr wrap="square" lIns="0" rIns="0" tIns="0" bIns="0">
            <a:spAutoFit/>
          </a:bodyPr>
          <a:lstStyle/>
          <a:p>
            <a:pPr algn="l">
              <a:lnSpc>
                <a:spcPct val="112000"/>
              </a:lnSpc>
              <a:spcAft>
                <a:spcPts val="900"/>
              </a:spcAft>
              <a:defRPr sz="2100" b="0">
                <a:solidFill>
                  <a:srgbClr val="202B3B"/>
                </a:solidFill>
                <a:latin typeface="Arial"/>
              </a:defRPr>
              <a:buNone/>
            </a:pPr>
            <a:r>
              <a:t>Kimi K2.7 Code QSR: 6.7% mean exact; $0.01086/question.</a:t>
            </a:r>
          </a:p>
          <a:p>
            <a:pPr algn="l">
              <a:lnSpc>
                <a:spcPct val="112000"/>
              </a:lnSpc>
              <a:spcAft>
                <a:spcPts val="900"/>
              </a:spcAft>
              <a:defRPr sz="2100" b="0">
                <a:solidFill>
                  <a:srgbClr val="202B3B"/>
                </a:solidFill>
                <a:latin typeface="Arial"/>
              </a:defRPr>
              <a:buNone/>
            </a:pPr>
            <a:r>
              <a:t>GLM 5.2 QSR: 73.3% mean exact; $0.01389/question.</a:t>
            </a:r>
          </a:p>
          <a:p>
            <a:pPr algn="l">
              <a:lnSpc>
                <a:spcPct val="112000"/>
              </a:lnSpc>
              <a:spcAft>
                <a:spcPts val="900"/>
              </a:spcAft>
              <a:defRPr sz="2100" b="0">
                <a:solidFill>
                  <a:srgbClr val="202B3B"/>
                </a:solidFill>
                <a:latin typeface="Arial"/>
              </a:defRPr>
              <a:buNone/>
            </a:pPr>
            <a:r>
              <a:t>Pro simple-revision sample: all exact; $0.01851/question (185.10× Flash ISC).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329184"/>
            <a:ext cx="10058400" cy="256032"/>
          </a:xfrm>
          <a:prstGeom prst="rect">
            <a:avLst/>
          </a:prstGeom>
          <a:noFill/>
        </p:spPr>
        <p:txBody>
          <a:bodyPr wrap="square" lIns="0" rIns="0" tIns="0" bIns="0">
            <a:spAutoFit/>
          </a:bodyPr>
          <a:lstStyle/>
          <a:p>
            <a:pPr algn="l">
              <a:lnSpc>
                <a:spcPct val="112000"/>
              </a:lnSpc>
              <a:spcAft>
                <a:spcPts val="900"/>
              </a:spcAft>
              <a:defRPr sz="1100" b="1">
                <a:solidFill>
                  <a:srgbClr val="1C4072"/>
                </a:solidFill>
                <a:latin typeface="Arial"/>
              </a:defRPr>
              <a:buNone/>
            </a:pPr>
            <a:r>
              <a:t>SOURCES</a:t>
            </a:r>
          </a:p>
        </p:txBody>
      </p:sp>
      <p:sp>
        <p:nvSpPr>
          <p:cNvPr id="3" name="TextBox 2"/>
          <p:cNvSpPr txBox="1"/>
          <p:nvPr/>
        </p:nvSpPr>
        <p:spPr>
          <a:xfrm>
            <a:off x="1463040" y="758952"/>
            <a:ext cx="10058400" cy="932688"/>
          </a:xfrm>
          <a:prstGeom prst="rect">
            <a:avLst/>
          </a:prstGeom>
          <a:noFill/>
        </p:spPr>
        <p:txBody>
          <a:bodyPr wrap="square" lIns="0" rIns="0" tIns="0" bIns="0">
            <a:spAutoFit/>
          </a:bodyPr>
          <a:lstStyle/>
          <a:p>
            <a:pPr algn="l">
              <a:lnSpc>
                <a:spcPct val="112000"/>
              </a:lnSpc>
              <a:spcAft>
                <a:spcPts val="900"/>
              </a:spcAft>
              <a:defRPr sz="3200" b="1">
                <a:solidFill>
                  <a:srgbClr val="1C4072"/>
                </a:solidFill>
                <a:latin typeface="Arial"/>
              </a:defRPr>
              <a:buNone/>
            </a:pPr>
            <a:r>
              <a:t>Appendix: where each example comes from</a:t>
            </a:r>
          </a:p>
        </p:txBody>
      </p:sp>
      <p:sp>
        <p:nvSpPr>
          <p:cNvPr id="4" name="Rectangle 3"/>
          <p:cNvSpPr/>
          <p:nvPr/>
        </p:nvSpPr>
        <p:spPr>
          <a:xfrm>
            <a:off x="1463040" y="6373368"/>
            <a:ext cx="10058400" cy="22860"/>
          </a:xfrm>
          <a:prstGeom prst="rect">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6492240"/>
            <a:ext cx="9509760" cy="182880"/>
          </a:xfrm>
          <a:prstGeom prst="rect">
            <a:avLst/>
          </a:prstGeom>
          <a:noFill/>
        </p:spPr>
        <p:txBody>
          <a:bodyPr wrap="square" lIns="0" rIns="0" tIns="0" bIns="0">
            <a:spAutoFit/>
          </a:bodyPr>
          <a:lstStyle/>
          <a:p>
            <a:pPr algn="l">
              <a:lnSpc>
                <a:spcPct val="112000"/>
              </a:lnSpc>
              <a:spcAft>
                <a:spcPts val="900"/>
              </a:spcAft>
              <a:defRPr sz="900" b="0">
                <a:solidFill>
                  <a:srgbClr val="536378"/>
                </a:solidFill>
                <a:latin typeface="Arial"/>
              </a:defRPr>
              <a:buNone/>
            </a:pPr>
            <a:r>
              <a:t>See README.md and examples.json for full source paths, hashes, data and speaking notes</a:t>
            </a:r>
          </a:p>
        </p:txBody>
      </p:sp>
      <p:sp>
        <p:nvSpPr>
          <p:cNvPr id="6" name="TextBox 5"/>
          <p:cNvSpPr txBox="1"/>
          <p:nvPr/>
        </p:nvSpPr>
        <p:spPr>
          <a:xfrm>
            <a:off x="10972800" y="6492240"/>
            <a:ext cx="548640" cy="182880"/>
          </a:xfrm>
          <a:prstGeom prst="rect">
            <a:avLst/>
          </a:prstGeom>
          <a:noFill/>
        </p:spPr>
        <p:txBody>
          <a:bodyPr wrap="square" lIns="0" rIns="0" tIns="0" bIns="0">
            <a:spAutoFit/>
          </a:bodyPr>
          <a:lstStyle/>
          <a:p>
            <a:pPr algn="r">
              <a:lnSpc>
                <a:spcPct val="112000"/>
              </a:lnSpc>
              <a:spcAft>
                <a:spcPts val="900"/>
              </a:spcAft>
              <a:defRPr sz="1000" b="0">
                <a:solidFill>
                  <a:srgbClr val="536378"/>
                </a:solidFill>
                <a:latin typeface="Arial"/>
              </a:defRPr>
              <a:buNone/>
            </a:pPr>
            <a:r>
              <a:t>16</a:t>
            </a:r>
          </a:p>
        </p:txBody>
      </p:sp>
      <p:sp>
        <p:nvSpPr>
          <p:cNvPr id="7" name="TextBox 6"/>
          <p:cNvSpPr txBox="1"/>
          <p:nvPr/>
        </p:nvSpPr>
        <p:spPr>
          <a:xfrm>
            <a:off x="1463040" y="1874519"/>
            <a:ext cx="10058400" cy="914400"/>
          </a:xfrm>
          <a:prstGeom prst="rect">
            <a:avLst/>
          </a:prstGeom>
          <a:noFill/>
        </p:spPr>
        <p:txBody>
          <a:bodyPr wrap="square" lIns="0" rIns="0" tIns="0" bIns="0">
            <a:spAutoFit/>
          </a:bodyPr>
          <a:lstStyle/>
          <a:p>
            <a:pPr algn="l">
              <a:lnSpc>
                <a:spcPct val="112000"/>
              </a:lnSpc>
              <a:spcAft>
                <a:spcPts val="900"/>
              </a:spcAft>
              <a:defRPr sz="2000" b="0">
                <a:solidFill>
                  <a:srgbClr val="202B3B"/>
                </a:solidFill>
                <a:latin typeface="Arial"/>
              </a:defRPr>
              <a:buNone/>
            </a:pPr>
            <a:r>
              <a:t>Paper: Wild, Takahashi &amp; Uraki, iCAST-ES 2026.</a:t>
            </a:r>
          </a:p>
          <a:p>
            <a:pPr algn="l">
              <a:lnSpc>
                <a:spcPct val="112000"/>
              </a:lnSpc>
              <a:spcAft>
                <a:spcPts val="900"/>
              </a:spcAft>
              <a:defRPr sz="2000" b="0">
                <a:solidFill>
                  <a:srgbClr val="202B3B"/>
                </a:solidFill>
                <a:latin typeface="Arial"/>
              </a:defRPr>
              <a:buNone/>
            </a:pPr>
            <a:r>
              <a:t>Camera-ready: aix-sc/isc @ bd7b8c5, paper/icast2026-camera-ready/main.tex.</a:t>
            </a:r>
          </a:p>
        </p:txBody>
      </p:sp>
      <p:sp>
        <p:nvSpPr>
          <p:cNvPr id="8" name="Rectangle 7"/>
          <p:cNvSpPr/>
          <p:nvPr/>
        </p:nvSpPr>
        <p:spPr>
          <a:xfrm>
            <a:off x="1463040" y="2990088"/>
            <a:ext cx="10058400" cy="22860"/>
          </a:xfrm>
          <a:prstGeom prst="rect">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63040" y="3310128"/>
            <a:ext cx="10058400" cy="1143000"/>
          </a:xfrm>
          <a:prstGeom prst="rect">
            <a:avLst/>
          </a:prstGeom>
          <a:noFill/>
        </p:spPr>
        <p:txBody>
          <a:bodyPr wrap="square" lIns="0" rIns="0" tIns="0" bIns="0">
            <a:spAutoFit/>
          </a:bodyPr>
          <a:lstStyle/>
          <a:p>
            <a:pPr algn="l">
              <a:lnSpc>
                <a:spcPct val="112000"/>
              </a:lnSpc>
              <a:spcAft>
                <a:spcPts val="900"/>
              </a:spcAft>
              <a:defRPr sz="2100" b="0">
                <a:solidFill>
                  <a:srgbClr val="202B3B"/>
                </a:solidFill>
                <a:latin typeface="Arial"/>
              </a:defRPr>
              <a:buNone/>
            </a:pPr>
            <a:r>
              <a:t>Real examples: Federal Reserve press conference, 29 Apr 2026.</a:t>
            </a:r>
          </a:p>
          <a:p>
            <a:pPr algn="l">
              <a:lnSpc>
                <a:spcPct val="112000"/>
              </a:lnSpc>
              <a:spcAft>
                <a:spcPts val="900"/>
              </a:spcAft>
              <a:defRPr sz="2100" b="0">
                <a:solidFill>
                  <a:srgbClr val="202B3B"/>
                </a:solidFill>
                <a:latin typeface="Arial"/>
              </a:defRPr>
              <a:buNone/>
            </a:pPr>
            <a:r>
              <a:t>Frozen S2 passage 17: Powell’s neutral-rate estimate.</a:t>
            </a:r>
          </a:p>
          <a:p>
            <a:pPr algn="l">
              <a:lnSpc>
                <a:spcPct val="112000"/>
              </a:lnSpc>
              <a:spcAft>
                <a:spcPts val="900"/>
              </a:spcAft>
              <a:defRPr sz="2100" b="0">
                <a:solidFill>
                  <a:srgbClr val="202B3B"/>
                </a:solidFill>
                <a:latin typeface="Arial"/>
              </a:defRPr>
              <a:buNone/>
            </a:pPr>
            <a:r>
              <a:t>Frozen S2 passage 4: omitted unchanged-language claim.</a:t>
            </a:r>
          </a:p>
        </p:txBody>
      </p:sp>
      <p:sp>
        <p:nvSpPr>
          <p:cNvPr id="10" name="Rectangle 9"/>
          <p:cNvSpPr/>
          <p:nvPr/>
        </p:nvSpPr>
        <p:spPr>
          <a:xfrm>
            <a:off x="1463040" y="4654296"/>
            <a:ext cx="10058400" cy="22860"/>
          </a:xfrm>
          <a:prstGeom prst="rect">
            <a:avLst/>
          </a:prstGeom>
          <a:solidFill>
            <a:srgbClr val="D7E1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63040" y="4937760"/>
            <a:ext cx="10058400" cy="1024128"/>
          </a:xfrm>
          <a:prstGeom prst="rect">
            <a:avLst/>
          </a:prstGeom>
          <a:noFill/>
        </p:spPr>
        <p:txBody>
          <a:bodyPr wrap="square" lIns="0" rIns="0" tIns="0" bIns="0">
            <a:spAutoFit/>
          </a:bodyPr>
          <a:lstStyle/>
          <a:p>
            <a:pPr algn="l">
              <a:lnSpc>
                <a:spcPct val="112000"/>
              </a:lnSpc>
              <a:spcAft>
                <a:spcPts val="900"/>
              </a:spcAft>
              <a:defRPr sz="2000" b="0">
                <a:solidFill>
                  <a:srgbClr val="202B3B"/>
                </a:solidFill>
                <a:latin typeface="Arial"/>
              </a:defRPr>
              <a:buNone/>
            </a:pPr>
            <a:r>
              <a:t>Synthetic example: adversarial_project_000:launch_region, seed 20260709.</a:t>
            </a:r>
          </a:p>
          <a:p>
            <a:pPr algn="l">
              <a:lnSpc>
                <a:spcPct val="112000"/>
              </a:lnSpc>
              <a:spcAft>
                <a:spcPts val="900"/>
              </a:spcAft>
              <a:defRPr sz="2000" b="0">
                <a:solidFill>
                  <a:srgbClr val="202B3B"/>
                </a:solidFill>
                <a:latin typeface="Arial"/>
              </a:defRPr>
              <a:buNone/>
            </a:pPr>
            <a:r>
              <a:t>Run audit: CAMERA_READY_EVIDENCE_2026-08-20.md.</a:t>
            </a:r>
          </a:p>
          <a:p>
            <a:pPr algn="l">
              <a:lnSpc>
                <a:spcPct val="112000"/>
              </a:lnSpc>
              <a:spcAft>
                <a:spcPts val="900"/>
              </a:spcAft>
              <a:defRPr sz="2000" b="0">
                <a:solidFill>
                  <a:srgbClr val="202B3B"/>
                </a:solidFill>
                <a:latin typeface="Arial"/>
              </a:defRPr>
              <a:buNone/>
            </a:pPr>
            <a:r>
              <a:t>Template: committee-supplied “Template iCAST 2026.pptx”.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815BF098-411D-DB48-91E4-E80FFC806D75}" vid="{96E6D638-1174-1545-AEC6-D7E01BE75BE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14</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Ingest-Time Fact Compilation — iCAST-ES 2026</dc:title>
  <dc:creator>Kyle Wild; Yusuke Takahashi; Asako Uraki</dc:creator>
  <cp:lastModifiedBy>widi sarinastiti</cp:lastModifiedBy>
  <cp:revision>1</cp:revision>
  <dcterms:created xsi:type="dcterms:W3CDTF">2026-08-29T03:51:30Z</dcterms:created>
  <dcterms:modified xsi:type="dcterms:W3CDTF">2026-08-29T04:05:55Z</dcterms:modified>
  <dc:subject>A ten-minute story through real fact rephrasing and controlled revision experiments</dc:subject>
</cp:coreProperties>
</file>